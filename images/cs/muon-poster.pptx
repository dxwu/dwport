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handoutMasterIdLst>
    <p:handoutMasterId r:id="rId3"/>
  </p:handoutMasterIdLst>
  <p:sldIdLst>
    <p:sldId id="256" r:id="rId2"/>
  </p:sldIdLst>
  <p:sldSz cx="27432000" cy="36576000"/>
  <p:notesSz cx="6858000" cy="9296400"/>
  <p:defaultText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5620"/>
    <p:restoredTop sz="98566" autoAdjust="0"/>
  </p:normalViewPr>
  <p:slideViewPr>
    <p:cSldViewPr>
      <p:cViewPr>
        <p:scale>
          <a:sx n="33" d="100"/>
          <a:sy n="33" d="100"/>
        </p:scale>
        <p:origin x="-1056" y="-78"/>
      </p:cViewPr>
      <p:guideLst>
        <p:guide orient="horz" pos="11520"/>
        <p:guide pos="864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3" Type="http://schemas.openxmlformats.org/officeDocument/2006/relationships/handoutMaster" Target="handoutMasters/handout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4820"/>
          </a:xfrm>
          <a:prstGeom prst="rect">
            <a:avLst/>
          </a:prstGeom>
        </p:spPr>
        <p:txBody>
          <a:bodyPr vert="horz" lIns="91440" tIns="45720" rIns="91440" bIns="45720" rtlCol="0"/>
          <a:lstStyle>
            <a:lvl1pPr algn="r">
              <a:defRPr sz="1200"/>
            </a:lvl1pPr>
          </a:lstStyle>
          <a:p>
            <a:fld id="{F61CA431-BBE8-4940-9946-E02C65CCA603}" type="datetimeFigureOut">
              <a:rPr lang="en-US" smtClean="0"/>
              <a:pPr/>
              <a:t>7/30/2013</a:t>
            </a:fld>
            <a:endParaRPr lang="en-US"/>
          </a:p>
        </p:txBody>
      </p:sp>
      <p:sp>
        <p:nvSpPr>
          <p:cNvPr id="4" name="Footer Placeholder 3"/>
          <p:cNvSpPr>
            <a:spLocks noGrp="1"/>
          </p:cNvSpPr>
          <p:nvPr>
            <p:ph type="ftr" sz="quarter" idx="2"/>
          </p:nvPr>
        </p:nvSpPr>
        <p:spPr>
          <a:xfrm>
            <a:off x="0" y="8829967"/>
            <a:ext cx="2971800" cy="46482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7"/>
            <a:ext cx="2971800" cy="464820"/>
          </a:xfrm>
          <a:prstGeom prst="rect">
            <a:avLst/>
          </a:prstGeom>
        </p:spPr>
        <p:txBody>
          <a:bodyPr vert="horz" lIns="91440" tIns="45720" rIns="91440" bIns="45720" rtlCol="0" anchor="b"/>
          <a:lstStyle>
            <a:lvl1pPr algn="r">
              <a:defRPr sz="1200"/>
            </a:lvl1pPr>
          </a:lstStyle>
          <a:p>
            <a:fld id="{1A1E914F-87F6-49D9-8361-4CEE44F4D645}"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11362270"/>
            <a:ext cx="23317200" cy="7840133"/>
          </a:xfrm>
        </p:spPr>
        <p:txBody>
          <a:bodyPr/>
          <a:lstStyle/>
          <a:p>
            <a:r>
              <a:rPr lang="en-US" smtClean="0"/>
              <a:t>Click to edit Master title style</a:t>
            </a:r>
            <a:endParaRPr lang="en-US"/>
          </a:p>
        </p:txBody>
      </p:sp>
      <p:sp>
        <p:nvSpPr>
          <p:cNvPr id="3" name="Subtitle 2"/>
          <p:cNvSpPr>
            <a:spLocks noGrp="1"/>
          </p:cNvSpPr>
          <p:nvPr>
            <p:ph type="subTitle" idx="1"/>
          </p:nvPr>
        </p:nvSpPr>
        <p:spPr>
          <a:xfrm>
            <a:off x="4114800" y="20726400"/>
            <a:ext cx="19202400" cy="9347200"/>
          </a:xfrm>
        </p:spPr>
        <p:txBody>
          <a:bodyPr/>
          <a:lstStyle>
            <a:lvl1pPr marL="0" indent="0" algn="ctr">
              <a:buNone/>
              <a:defRPr>
                <a:solidFill>
                  <a:schemeClr val="tx1">
                    <a:tint val="75000"/>
                  </a:schemeClr>
                </a:solidFill>
              </a:defRPr>
            </a:lvl1pPr>
            <a:lvl2pPr marL="1828800" indent="0" algn="ctr">
              <a:buNone/>
              <a:defRPr>
                <a:solidFill>
                  <a:schemeClr val="tx1">
                    <a:tint val="75000"/>
                  </a:schemeClr>
                </a:solidFill>
              </a:defRPr>
            </a:lvl2pPr>
            <a:lvl3pPr marL="3657600" indent="0" algn="ctr">
              <a:buNone/>
              <a:defRPr>
                <a:solidFill>
                  <a:schemeClr val="tx1">
                    <a:tint val="75000"/>
                  </a:schemeClr>
                </a:solidFill>
              </a:defRPr>
            </a:lvl3pPr>
            <a:lvl4pPr marL="5486400" indent="0" algn="ctr">
              <a:buNone/>
              <a:defRPr>
                <a:solidFill>
                  <a:schemeClr val="tx1">
                    <a:tint val="75000"/>
                  </a:schemeClr>
                </a:solidFill>
              </a:defRPr>
            </a:lvl4pPr>
            <a:lvl5pPr marL="7315200" indent="0" algn="ctr">
              <a:buNone/>
              <a:defRPr>
                <a:solidFill>
                  <a:schemeClr val="tx1">
                    <a:tint val="75000"/>
                  </a:schemeClr>
                </a:solidFill>
              </a:defRPr>
            </a:lvl5pPr>
            <a:lvl6pPr marL="9144000" indent="0" algn="ctr">
              <a:buNone/>
              <a:defRPr>
                <a:solidFill>
                  <a:schemeClr val="tx1">
                    <a:tint val="75000"/>
                  </a:schemeClr>
                </a:solidFill>
              </a:defRPr>
            </a:lvl6pPr>
            <a:lvl7pPr marL="10972800" indent="0" algn="ctr">
              <a:buNone/>
              <a:defRPr>
                <a:solidFill>
                  <a:schemeClr val="tx1">
                    <a:tint val="75000"/>
                  </a:schemeClr>
                </a:solidFill>
              </a:defRPr>
            </a:lvl7pPr>
            <a:lvl8pPr marL="12801600" indent="0" algn="ctr">
              <a:buNone/>
              <a:defRPr>
                <a:solidFill>
                  <a:schemeClr val="tx1">
                    <a:tint val="75000"/>
                  </a:schemeClr>
                </a:solidFill>
              </a:defRPr>
            </a:lvl8pPr>
            <a:lvl9pPr marL="146304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25B8640-0C2C-453A-B17D-85E19A93D602}" type="datetimeFigureOut">
              <a:rPr lang="en-US" smtClean="0"/>
              <a:pPr/>
              <a:t>7/30/2013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B3CA58-2EBB-454F-8416-C0BDC6A6B0E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5B8640-0C2C-453A-B17D-85E19A93D602}" type="datetimeFigureOut">
              <a:rPr lang="en-US" smtClean="0"/>
              <a:pPr/>
              <a:t>7/30/2013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B3CA58-2EBB-454F-8416-C0BDC6A6B0E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66939" y="23503469"/>
            <a:ext cx="23317200" cy="7264400"/>
          </a:xfrm>
        </p:spPr>
        <p:txBody>
          <a:bodyPr anchor="t"/>
          <a:lstStyle>
            <a:lvl1pPr algn="l">
              <a:defRPr sz="16000" b="1" cap="all"/>
            </a:lvl1pPr>
          </a:lstStyle>
          <a:p>
            <a:r>
              <a:rPr lang="en-US" smtClean="0"/>
              <a:t>Click to edit Master title style</a:t>
            </a:r>
            <a:endParaRPr lang="en-US"/>
          </a:p>
        </p:txBody>
      </p:sp>
      <p:sp>
        <p:nvSpPr>
          <p:cNvPr id="3" name="Text Placeholder 2"/>
          <p:cNvSpPr>
            <a:spLocks noGrp="1"/>
          </p:cNvSpPr>
          <p:nvPr>
            <p:ph type="body" idx="1"/>
          </p:nvPr>
        </p:nvSpPr>
        <p:spPr>
          <a:xfrm>
            <a:off x="2166939" y="15502472"/>
            <a:ext cx="23317200" cy="8000997"/>
          </a:xfrm>
        </p:spPr>
        <p:txBody>
          <a:bodyPr anchor="b"/>
          <a:lstStyle>
            <a:lvl1pPr marL="0" indent="0">
              <a:buNone/>
              <a:defRPr sz="8000">
                <a:solidFill>
                  <a:schemeClr val="tx1">
                    <a:tint val="75000"/>
                  </a:schemeClr>
                </a:solidFill>
              </a:defRPr>
            </a:lvl1pPr>
            <a:lvl2pPr marL="1828800" indent="0">
              <a:buNone/>
              <a:defRPr sz="7200">
                <a:solidFill>
                  <a:schemeClr val="tx1">
                    <a:tint val="75000"/>
                  </a:schemeClr>
                </a:solidFill>
              </a:defRPr>
            </a:lvl2pPr>
            <a:lvl3pPr marL="3657600" indent="0">
              <a:buNone/>
              <a:defRPr sz="6400">
                <a:solidFill>
                  <a:schemeClr val="tx1">
                    <a:tint val="75000"/>
                  </a:schemeClr>
                </a:solidFill>
              </a:defRPr>
            </a:lvl3pPr>
            <a:lvl4pPr marL="5486400" indent="0">
              <a:buNone/>
              <a:defRPr sz="5600">
                <a:solidFill>
                  <a:schemeClr val="tx1">
                    <a:tint val="75000"/>
                  </a:schemeClr>
                </a:solidFill>
              </a:defRPr>
            </a:lvl4pPr>
            <a:lvl5pPr marL="7315200" indent="0">
              <a:buNone/>
              <a:defRPr sz="5600">
                <a:solidFill>
                  <a:schemeClr val="tx1">
                    <a:tint val="75000"/>
                  </a:schemeClr>
                </a:solidFill>
              </a:defRPr>
            </a:lvl5pPr>
            <a:lvl6pPr marL="9144000" indent="0">
              <a:buNone/>
              <a:defRPr sz="5600">
                <a:solidFill>
                  <a:schemeClr val="tx1">
                    <a:tint val="75000"/>
                  </a:schemeClr>
                </a:solidFill>
              </a:defRPr>
            </a:lvl6pPr>
            <a:lvl7pPr marL="10972800" indent="0">
              <a:buNone/>
              <a:defRPr sz="5600">
                <a:solidFill>
                  <a:schemeClr val="tx1">
                    <a:tint val="75000"/>
                  </a:schemeClr>
                </a:solidFill>
              </a:defRPr>
            </a:lvl7pPr>
            <a:lvl8pPr marL="12801600" indent="0">
              <a:buNone/>
              <a:defRPr sz="5600">
                <a:solidFill>
                  <a:schemeClr val="tx1">
                    <a:tint val="75000"/>
                  </a:schemeClr>
                </a:solidFill>
              </a:defRPr>
            </a:lvl8pPr>
            <a:lvl9pPr marL="14630400" indent="0">
              <a:buNone/>
              <a:defRPr sz="5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25B8640-0C2C-453A-B17D-85E19A93D602}" type="datetimeFigureOut">
              <a:rPr lang="en-US" smtClean="0"/>
              <a:pPr/>
              <a:t>7/30/2013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B3CA58-2EBB-454F-8416-C0BDC6A6B0E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114800" y="45516800"/>
            <a:ext cx="36804600" cy="128735669"/>
          </a:xfrm>
        </p:spPr>
        <p:txBody>
          <a:bodyPr/>
          <a:lstStyle>
            <a:lvl1pPr>
              <a:defRPr sz="11200"/>
            </a:lvl1pPr>
            <a:lvl2pPr>
              <a:defRPr sz="9600"/>
            </a:lvl2pPr>
            <a:lvl3pPr>
              <a:defRPr sz="8000"/>
            </a:lvl3pPr>
            <a:lvl4pPr>
              <a:defRPr sz="7200"/>
            </a:lvl4pPr>
            <a:lvl5pPr>
              <a:defRPr sz="7200"/>
            </a:lvl5pPr>
            <a:lvl6pPr>
              <a:defRPr sz="7200"/>
            </a:lvl6pPr>
            <a:lvl7pPr>
              <a:defRPr sz="7200"/>
            </a:lvl7pPr>
            <a:lvl8pPr>
              <a:defRPr sz="7200"/>
            </a:lvl8pPr>
            <a:lvl9pPr>
              <a:defRPr sz="7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1376600" y="45516800"/>
            <a:ext cx="36804600" cy="128735669"/>
          </a:xfrm>
        </p:spPr>
        <p:txBody>
          <a:bodyPr/>
          <a:lstStyle>
            <a:lvl1pPr>
              <a:defRPr sz="11200"/>
            </a:lvl1pPr>
            <a:lvl2pPr>
              <a:defRPr sz="9600"/>
            </a:lvl2pPr>
            <a:lvl3pPr>
              <a:defRPr sz="8000"/>
            </a:lvl3pPr>
            <a:lvl4pPr>
              <a:defRPr sz="7200"/>
            </a:lvl4pPr>
            <a:lvl5pPr>
              <a:defRPr sz="7200"/>
            </a:lvl5pPr>
            <a:lvl6pPr>
              <a:defRPr sz="7200"/>
            </a:lvl6pPr>
            <a:lvl7pPr>
              <a:defRPr sz="7200"/>
            </a:lvl7pPr>
            <a:lvl8pPr>
              <a:defRPr sz="7200"/>
            </a:lvl8pPr>
            <a:lvl9pPr>
              <a:defRPr sz="7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25B8640-0C2C-453A-B17D-85E19A93D602}" type="datetimeFigureOut">
              <a:rPr lang="en-US" smtClean="0"/>
              <a:pPr/>
              <a:t>7/30/2013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B3CA58-2EBB-454F-8416-C0BDC6A6B0E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1464736"/>
            <a:ext cx="24688800" cy="6096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371600" y="8187269"/>
            <a:ext cx="12120564" cy="3412064"/>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smtClean="0"/>
              <a:t>Click to edit Master text styles</a:t>
            </a:r>
          </a:p>
        </p:txBody>
      </p:sp>
      <p:sp>
        <p:nvSpPr>
          <p:cNvPr id="4" name="Content Placeholder 3"/>
          <p:cNvSpPr>
            <a:spLocks noGrp="1"/>
          </p:cNvSpPr>
          <p:nvPr>
            <p:ph sz="half" idx="2"/>
          </p:nvPr>
        </p:nvSpPr>
        <p:spPr>
          <a:xfrm>
            <a:off x="1371600" y="11599333"/>
            <a:ext cx="12120564" cy="21073536"/>
          </a:xfrm>
        </p:spPr>
        <p:txBody>
          <a:bodyPr/>
          <a:lstStyle>
            <a:lvl1pPr>
              <a:defRPr sz="9600"/>
            </a:lvl1pPr>
            <a:lvl2pPr>
              <a:defRPr sz="8000"/>
            </a:lvl2pPr>
            <a:lvl3pPr>
              <a:defRPr sz="7200"/>
            </a:lvl3pPr>
            <a:lvl4pPr>
              <a:defRPr sz="6400"/>
            </a:lvl4pPr>
            <a:lvl5pPr>
              <a:defRPr sz="6400"/>
            </a:lvl5pPr>
            <a:lvl6pPr>
              <a:defRPr sz="6400"/>
            </a:lvl6pPr>
            <a:lvl7pPr>
              <a:defRPr sz="6400"/>
            </a:lvl7pPr>
            <a:lvl8pPr>
              <a:defRPr sz="6400"/>
            </a:lvl8pPr>
            <a:lvl9pPr>
              <a:defRPr sz="6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13935077" y="8187269"/>
            <a:ext cx="12125325" cy="3412064"/>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smtClean="0"/>
              <a:t>Click to edit Master text styles</a:t>
            </a:r>
          </a:p>
        </p:txBody>
      </p:sp>
      <p:sp>
        <p:nvSpPr>
          <p:cNvPr id="6" name="Content Placeholder 5"/>
          <p:cNvSpPr>
            <a:spLocks noGrp="1"/>
          </p:cNvSpPr>
          <p:nvPr>
            <p:ph sz="quarter" idx="4"/>
          </p:nvPr>
        </p:nvSpPr>
        <p:spPr>
          <a:xfrm>
            <a:off x="13935077" y="11599333"/>
            <a:ext cx="12125325" cy="21073536"/>
          </a:xfrm>
        </p:spPr>
        <p:txBody>
          <a:bodyPr/>
          <a:lstStyle>
            <a:lvl1pPr>
              <a:defRPr sz="9600"/>
            </a:lvl1pPr>
            <a:lvl2pPr>
              <a:defRPr sz="8000"/>
            </a:lvl2pPr>
            <a:lvl3pPr>
              <a:defRPr sz="7200"/>
            </a:lvl3pPr>
            <a:lvl4pPr>
              <a:defRPr sz="6400"/>
            </a:lvl4pPr>
            <a:lvl5pPr>
              <a:defRPr sz="6400"/>
            </a:lvl5pPr>
            <a:lvl6pPr>
              <a:defRPr sz="6400"/>
            </a:lvl6pPr>
            <a:lvl7pPr>
              <a:defRPr sz="6400"/>
            </a:lvl7pPr>
            <a:lvl8pPr>
              <a:defRPr sz="6400"/>
            </a:lvl8pPr>
            <a:lvl9pPr>
              <a:defRPr sz="6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25B8640-0C2C-453A-B17D-85E19A93D602}" type="datetimeFigureOut">
              <a:rPr lang="en-US" smtClean="0"/>
              <a:pPr/>
              <a:t>7/30/2013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2B3CA58-2EBB-454F-8416-C0BDC6A6B0E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25B8640-0C2C-453A-B17D-85E19A93D602}" type="datetimeFigureOut">
              <a:rPr lang="en-US" smtClean="0"/>
              <a:pPr/>
              <a:t>7/30/2013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2B3CA58-2EBB-454F-8416-C0BDC6A6B0E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5B8640-0C2C-453A-B17D-85E19A93D602}" type="datetimeFigureOut">
              <a:rPr lang="en-US" smtClean="0"/>
              <a:pPr/>
              <a:t>7/30/2013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2B3CA58-2EBB-454F-8416-C0BDC6A6B0E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71602" y="1456267"/>
            <a:ext cx="9024939" cy="6197600"/>
          </a:xfrm>
        </p:spPr>
        <p:txBody>
          <a:bodyPr anchor="b"/>
          <a:lstStyle>
            <a:lvl1pPr algn="l">
              <a:defRPr sz="8000" b="1"/>
            </a:lvl1pPr>
          </a:lstStyle>
          <a:p>
            <a:r>
              <a:rPr lang="en-US" smtClean="0"/>
              <a:t>Click to edit Master title style</a:t>
            </a:r>
            <a:endParaRPr lang="en-US"/>
          </a:p>
        </p:txBody>
      </p:sp>
      <p:sp>
        <p:nvSpPr>
          <p:cNvPr id="3" name="Content Placeholder 2"/>
          <p:cNvSpPr>
            <a:spLocks noGrp="1"/>
          </p:cNvSpPr>
          <p:nvPr>
            <p:ph idx="1"/>
          </p:nvPr>
        </p:nvSpPr>
        <p:spPr>
          <a:xfrm>
            <a:off x="10725150" y="1456269"/>
            <a:ext cx="15335250" cy="31216603"/>
          </a:xfrm>
        </p:spPr>
        <p:txBody>
          <a:bodyPr/>
          <a:lstStyle>
            <a:lvl1pPr>
              <a:defRPr sz="12800"/>
            </a:lvl1pPr>
            <a:lvl2pPr>
              <a:defRPr sz="11200"/>
            </a:lvl2pPr>
            <a:lvl3pPr>
              <a:defRPr sz="9600"/>
            </a:lvl3pPr>
            <a:lvl4pPr>
              <a:defRPr sz="8000"/>
            </a:lvl4pPr>
            <a:lvl5pPr>
              <a:defRPr sz="8000"/>
            </a:lvl5pPr>
            <a:lvl6pPr>
              <a:defRPr sz="8000"/>
            </a:lvl6pPr>
            <a:lvl7pPr>
              <a:defRPr sz="8000"/>
            </a:lvl7pPr>
            <a:lvl8pPr>
              <a:defRPr sz="8000"/>
            </a:lvl8pPr>
            <a:lvl9pPr>
              <a:defRPr sz="8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1371602" y="7653869"/>
            <a:ext cx="9024939" cy="25019003"/>
          </a:xfrm>
        </p:spPr>
        <p:txBody>
          <a:bodyPr/>
          <a:lstStyle>
            <a:lvl1pPr marL="0" indent="0">
              <a:buNone/>
              <a:defRPr sz="5600"/>
            </a:lvl1pPr>
            <a:lvl2pPr marL="1828800" indent="0">
              <a:buNone/>
              <a:defRPr sz="4800"/>
            </a:lvl2pPr>
            <a:lvl3pPr marL="3657600" indent="0">
              <a:buNone/>
              <a:defRPr sz="4000"/>
            </a:lvl3pPr>
            <a:lvl4pPr marL="5486400" indent="0">
              <a:buNone/>
              <a:defRPr sz="3600"/>
            </a:lvl4pPr>
            <a:lvl5pPr marL="7315200" indent="0">
              <a:buNone/>
              <a:defRPr sz="3600"/>
            </a:lvl5pPr>
            <a:lvl6pPr marL="9144000" indent="0">
              <a:buNone/>
              <a:defRPr sz="3600"/>
            </a:lvl6pPr>
            <a:lvl7pPr marL="10972800" indent="0">
              <a:buNone/>
              <a:defRPr sz="3600"/>
            </a:lvl7pPr>
            <a:lvl8pPr marL="12801600" indent="0">
              <a:buNone/>
              <a:defRPr sz="3600"/>
            </a:lvl8pPr>
            <a:lvl9pPr marL="14630400" indent="0">
              <a:buNone/>
              <a:defRPr sz="36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5B8640-0C2C-453A-B17D-85E19A93D602}" type="datetimeFigureOut">
              <a:rPr lang="en-US" smtClean="0"/>
              <a:pPr/>
              <a:t>7/30/2013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B3CA58-2EBB-454F-8416-C0BDC6A6B0E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76864" y="25603200"/>
            <a:ext cx="16459200" cy="3022603"/>
          </a:xfrm>
        </p:spPr>
        <p:txBody>
          <a:bodyPr anchor="b"/>
          <a:lstStyle>
            <a:lvl1pPr algn="l">
              <a:defRPr sz="8000" b="1"/>
            </a:lvl1pPr>
          </a:lstStyle>
          <a:p>
            <a:r>
              <a:rPr lang="en-US" smtClean="0"/>
              <a:t>Click to edit Master title style</a:t>
            </a:r>
            <a:endParaRPr lang="en-US"/>
          </a:p>
        </p:txBody>
      </p:sp>
      <p:sp>
        <p:nvSpPr>
          <p:cNvPr id="3" name="Picture Placeholder 2"/>
          <p:cNvSpPr>
            <a:spLocks noGrp="1"/>
          </p:cNvSpPr>
          <p:nvPr>
            <p:ph type="pic" idx="1"/>
          </p:nvPr>
        </p:nvSpPr>
        <p:spPr>
          <a:xfrm>
            <a:off x="5376864" y="3268133"/>
            <a:ext cx="16459200" cy="21945600"/>
          </a:xfrm>
        </p:spPr>
        <p:txBody>
          <a:bodyPr/>
          <a:lstStyle>
            <a:lvl1pPr marL="0" indent="0">
              <a:buNone/>
              <a:defRPr sz="12800"/>
            </a:lvl1pPr>
            <a:lvl2pPr marL="1828800" indent="0">
              <a:buNone/>
              <a:defRPr sz="11200"/>
            </a:lvl2pPr>
            <a:lvl3pPr marL="3657600" indent="0">
              <a:buNone/>
              <a:defRPr sz="9600"/>
            </a:lvl3pPr>
            <a:lvl4pPr marL="5486400" indent="0">
              <a:buNone/>
              <a:defRPr sz="8000"/>
            </a:lvl4pPr>
            <a:lvl5pPr marL="7315200" indent="0">
              <a:buNone/>
              <a:defRPr sz="8000"/>
            </a:lvl5pPr>
            <a:lvl6pPr marL="9144000" indent="0">
              <a:buNone/>
              <a:defRPr sz="8000"/>
            </a:lvl6pPr>
            <a:lvl7pPr marL="10972800" indent="0">
              <a:buNone/>
              <a:defRPr sz="8000"/>
            </a:lvl7pPr>
            <a:lvl8pPr marL="12801600" indent="0">
              <a:buNone/>
              <a:defRPr sz="8000"/>
            </a:lvl8pPr>
            <a:lvl9pPr marL="14630400" indent="0">
              <a:buNone/>
              <a:defRPr sz="8000"/>
            </a:lvl9pPr>
          </a:lstStyle>
          <a:p>
            <a:endParaRPr lang="en-US"/>
          </a:p>
        </p:txBody>
      </p:sp>
      <p:sp>
        <p:nvSpPr>
          <p:cNvPr id="4" name="Text Placeholder 3"/>
          <p:cNvSpPr>
            <a:spLocks noGrp="1"/>
          </p:cNvSpPr>
          <p:nvPr>
            <p:ph type="body" sz="half" idx="2"/>
          </p:nvPr>
        </p:nvSpPr>
        <p:spPr>
          <a:xfrm>
            <a:off x="5376864" y="28625803"/>
            <a:ext cx="16459200" cy="4292597"/>
          </a:xfrm>
        </p:spPr>
        <p:txBody>
          <a:bodyPr/>
          <a:lstStyle>
            <a:lvl1pPr marL="0" indent="0">
              <a:buNone/>
              <a:defRPr sz="5600"/>
            </a:lvl1pPr>
            <a:lvl2pPr marL="1828800" indent="0">
              <a:buNone/>
              <a:defRPr sz="4800"/>
            </a:lvl2pPr>
            <a:lvl3pPr marL="3657600" indent="0">
              <a:buNone/>
              <a:defRPr sz="4000"/>
            </a:lvl3pPr>
            <a:lvl4pPr marL="5486400" indent="0">
              <a:buNone/>
              <a:defRPr sz="3600"/>
            </a:lvl4pPr>
            <a:lvl5pPr marL="7315200" indent="0">
              <a:buNone/>
              <a:defRPr sz="3600"/>
            </a:lvl5pPr>
            <a:lvl6pPr marL="9144000" indent="0">
              <a:buNone/>
              <a:defRPr sz="3600"/>
            </a:lvl6pPr>
            <a:lvl7pPr marL="10972800" indent="0">
              <a:buNone/>
              <a:defRPr sz="3600"/>
            </a:lvl7pPr>
            <a:lvl8pPr marL="12801600" indent="0">
              <a:buNone/>
              <a:defRPr sz="3600"/>
            </a:lvl8pPr>
            <a:lvl9pPr marL="14630400" indent="0">
              <a:buNone/>
              <a:defRPr sz="36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5B8640-0C2C-453A-B17D-85E19A93D602}" type="datetimeFigureOut">
              <a:rPr lang="en-US" smtClean="0"/>
              <a:pPr/>
              <a:t>7/30/2013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B3CA58-2EBB-454F-8416-C0BDC6A6B0E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5B8640-0C2C-453A-B17D-85E19A93D602}" type="datetimeFigureOut">
              <a:rPr lang="en-US" smtClean="0"/>
              <a:pPr/>
              <a:t>7/30/2013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B3CA58-2EBB-454F-8416-C0BDC6A6B0E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664600" y="7814739"/>
            <a:ext cx="18516600" cy="16643773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114800" y="7814739"/>
            <a:ext cx="55092600" cy="16643773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5B8640-0C2C-453A-B17D-85E19A93D602}" type="datetimeFigureOut">
              <a:rPr lang="en-US" smtClean="0"/>
              <a:pPr/>
              <a:t>7/30/2013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B3CA58-2EBB-454F-8416-C0BDC6A6B0E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1464736"/>
            <a:ext cx="24688800" cy="6096000"/>
          </a:xfrm>
          <a:prstGeom prst="rect">
            <a:avLst/>
          </a:prstGeom>
        </p:spPr>
        <p:txBody>
          <a:bodyPr vert="horz" lIns="365760" tIns="182880" rIns="365760" bIns="18288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1371600" y="8534403"/>
            <a:ext cx="24688800" cy="24138469"/>
          </a:xfrm>
          <a:prstGeom prst="rect">
            <a:avLst/>
          </a:prstGeom>
        </p:spPr>
        <p:txBody>
          <a:bodyPr vert="horz" lIns="365760" tIns="182880" rIns="365760" bIns="1828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1371600" y="33900536"/>
            <a:ext cx="6400800" cy="1947333"/>
          </a:xfrm>
          <a:prstGeom prst="rect">
            <a:avLst/>
          </a:prstGeom>
        </p:spPr>
        <p:txBody>
          <a:bodyPr vert="horz" lIns="365760" tIns="182880" rIns="365760" bIns="182880" rtlCol="0" anchor="ctr"/>
          <a:lstStyle>
            <a:lvl1pPr algn="l">
              <a:defRPr sz="4800">
                <a:solidFill>
                  <a:schemeClr val="tx1">
                    <a:tint val="75000"/>
                  </a:schemeClr>
                </a:solidFill>
              </a:defRPr>
            </a:lvl1pPr>
          </a:lstStyle>
          <a:p>
            <a:fld id="{E25B8640-0C2C-453A-B17D-85E19A93D602}" type="datetimeFigureOut">
              <a:rPr lang="en-US" smtClean="0"/>
              <a:pPr/>
              <a:t>7/30/2013</a:t>
            </a:fld>
            <a:endParaRPr lang="en-US"/>
          </a:p>
        </p:txBody>
      </p:sp>
      <p:sp>
        <p:nvSpPr>
          <p:cNvPr id="5" name="Footer Placeholder 4"/>
          <p:cNvSpPr>
            <a:spLocks noGrp="1"/>
          </p:cNvSpPr>
          <p:nvPr>
            <p:ph type="ftr" sz="quarter" idx="3"/>
          </p:nvPr>
        </p:nvSpPr>
        <p:spPr>
          <a:xfrm>
            <a:off x="9372600" y="33900536"/>
            <a:ext cx="8686800" cy="1947333"/>
          </a:xfrm>
          <a:prstGeom prst="rect">
            <a:avLst/>
          </a:prstGeom>
        </p:spPr>
        <p:txBody>
          <a:bodyPr vert="horz" lIns="365760" tIns="182880" rIns="365760" bIns="182880" rtlCol="0" anchor="ctr"/>
          <a:lstStyle>
            <a:lvl1pPr algn="ctr">
              <a:defRPr sz="4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9659600" y="33900536"/>
            <a:ext cx="6400800" cy="1947333"/>
          </a:xfrm>
          <a:prstGeom prst="rect">
            <a:avLst/>
          </a:prstGeom>
        </p:spPr>
        <p:txBody>
          <a:bodyPr vert="horz" lIns="365760" tIns="182880" rIns="365760" bIns="182880" rtlCol="0" anchor="ctr"/>
          <a:lstStyle>
            <a:lvl1pPr algn="r">
              <a:defRPr sz="4800">
                <a:solidFill>
                  <a:schemeClr val="tx1">
                    <a:tint val="75000"/>
                  </a:schemeClr>
                </a:solidFill>
              </a:defRPr>
            </a:lvl1pPr>
          </a:lstStyle>
          <a:p>
            <a:fld id="{82B3CA58-2EBB-454F-8416-C0BDC6A6B0E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657600" rtl="0" eaLnBrk="1" latinLnBrk="0" hangingPunct="1">
        <a:spcBef>
          <a:spcPct val="0"/>
        </a:spcBef>
        <a:buNone/>
        <a:defRPr sz="17600" kern="1200">
          <a:solidFill>
            <a:schemeClr val="tx1"/>
          </a:solidFill>
          <a:latin typeface="+mj-lt"/>
          <a:ea typeface="+mj-ea"/>
          <a:cs typeface="+mj-cs"/>
        </a:defRPr>
      </a:lvl1pPr>
    </p:titleStyle>
    <p:bodyStyle>
      <a:lvl1pPr marL="1371600" indent="-1371600" algn="l" defTabSz="3657600" rtl="0" eaLnBrk="1" latinLnBrk="0" hangingPunct="1">
        <a:spcBef>
          <a:spcPct val="20000"/>
        </a:spcBef>
        <a:buFont typeface="Arial" pitchFamily="34" charset="0"/>
        <a:buChar char="•"/>
        <a:defRPr sz="12800" kern="1200">
          <a:solidFill>
            <a:schemeClr val="tx1"/>
          </a:solidFill>
          <a:latin typeface="+mn-lt"/>
          <a:ea typeface="+mn-ea"/>
          <a:cs typeface="+mn-cs"/>
        </a:defRPr>
      </a:lvl1pPr>
      <a:lvl2pPr marL="2971800" indent="-1143000" algn="l" defTabSz="3657600" rtl="0" eaLnBrk="1" latinLnBrk="0" hangingPunct="1">
        <a:spcBef>
          <a:spcPct val="20000"/>
        </a:spcBef>
        <a:buFont typeface="Arial" pitchFamily="34" charset="0"/>
        <a:buChar char="–"/>
        <a:defRPr sz="11200" kern="1200">
          <a:solidFill>
            <a:schemeClr val="tx1"/>
          </a:solidFill>
          <a:latin typeface="+mn-lt"/>
          <a:ea typeface="+mn-ea"/>
          <a:cs typeface="+mn-cs"/>
        </a:defRPr>
      </a:lvl2pPr>
      <a:lvl3pPr marL="4572000" indent="-914400" algn="l" defTabSz="3657600" rtl="0" eaLnBrk="1" latinLnBrk="0" hangingPunct="1">
        <a:spcBef>
          <a:spcPct val="20000"/>
        </a:spcBef>
        <a:buFont typeface="Arial" pitchFamily="34" charset="0"/>
        <a:buChar char="•"/>
        <a:defRPr sz="9600" kern="1200">
          <a:solidFill>
            <a:schemeClr val="tx1"/>
          </a:solidFill>
          <a:latin typeface="+mn-lt"/>
          <a:ea typeface="+mn-ea"/>
          <a:cs typeface="+mn-cs"/>
        </a:defRPr>
      </a:lvl3pPr>
      <a:lvl4pPr marL="6400800" indent="-914400" algn="l" defTabSz="3657600" rtl="0" eaLnBrk="1" latinLnBrk="0" hangingPunct="1">
        <a:spcBef>
          <a:spcPct val="20000"/>
        </a:spcBef>
        <a:buFont typeface="Arial" pitchFamily="34" charset="0"/>
        <a:buChar char="–"/>
        <a:defRPr sz="8000" kern="1200">
          <a:solidFill>
            <a:schemeClr val="tx1"/>
          </a:solidFill>
          <a:latin typeface="+mn-lt"/>
          <a:ea typeface="+mn-ea"/>
          <a:cs typeface="+mn-cs"/>
        </a:defRPr>
      </a:lvl4pPr>
      <a:lvl5pPr marL="8229600" indent="-914400" algn="l" defTabSz="3657600" rtl="0" eaLnBrk="1" latinLnBrk="0" hangingPunct="1">
        <a:spcBef>
          <a:spcPct val="20000"/>
        </a:spcBef>
        <a:buFont typeface="Arial" pitchFamily="34" charset="0"/>
        <a:buChar char="»"/>
        <a:defRPr sz="8000" kern="1200">
          <a:solidFill>
            <a:schemeClr val="tx1"/>
          </a:solidFill>
          <a:latin typeface="+mn-lt"/>
          <a:ea typeface="+mn-ea"/>
          <a:cs typeface="+mn-cs"/>
        </a:defRPr>
      </a:lvl5pPr>
      <a:lvl6pPr marL="10058400" indent="-914400" algn="l" defTabSz="3657600" rtl="0" eaLnBrk="1" latinLnBrk="0" hangingPunct="1">
        <a:spcBef>
          <a:spcPct val="20000"/>
        </a:spcBef>
        <a:buFont typeface="Arial" pitchFamily="34" charset="0"/>
        <a:buChar char="•"/>
        <a:defRPr sz="8000" kern="1200">
          <a:solidFill>
            <a:schemeClr val="tx1"/>
          </a:solidFill>
          <a:latin typeface="+mn-lt"/>
          <a:ea typeface="+mn-ea"/>
          <a:cs typeface="+mn-cs"/>
        </a:defRPr>
      </a:lvl6pPr>
      <a:lvl7pPr marL="11887200" indent="-914400" algn="l" defTabSz="3657600" rtl="0" eaLnBrk="1" latinLnBrk="0" hangingPunct="1">
        <a:spcBef>
          <a:spcPct val="20000"/>
        </a:spcBef>
        <a:buFont typeface="Arial" pitchFamily="34" charset="0"/>
        <a:buChar char="•"/>
        <a:defRPr sz="8000" kern="1200">
          <a:solidFill>
            <a:schemeClr val="tx1"/>
          </a:solidFill>
          <a:latin typeface="+mn-lt"/>
          <a:ea typeface="+mn-ea"/>
          <a:cs typeface="+mn-cs"/>
        </a:defRPr>
      </a:lvl7pPr>
      <a:lvl8pPr marL="13716000" indent="-914400" algn="l" defTabSz="3657600" rtl="0" eaLnBrk="1" latinLnBrk="0" hangingPunct="1">
        <a:spcBef>
          <a:spcPct val="20000"/>
        </a:spcBef>
        <a:buFont typeface="Arial" pitchFamily="34" charset="0"/>
        <a:buChar char="•"/>
        <a:defRPr sz="8000" kern="1200">
          <a:solidFill>
            <a:schemeClr val="tx1"/>
          </a:solidFill>
          <a:latin typeface="+mn-lt"/>
          <a:ea typeface="+mn-ea"/>
          <a:cs typeface="+mn-cs"/>
        </a:defRPr>
      </a:lvl8pPr>
      <a:lvl9pPr marL="15544800" indent="-914400" algn="l" defTabSz="3657600" rtl="0" eaLnBrk="1" latinLnBrk="0" hangingPunct="1">
        <a:spcBef>
          <a:spcPct val="20000"/>
        </a:spcBef>
        <a:buFont typeface="Arial" pitchFamily="34" charset="0"/>
        <a:buChar char="•"/>
        <a:defRPr sz="80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jpe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image" Target="../media/image1.jpeg"/><Relationship Id="rId16"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10.png"/><Relationship Id="rId5" Type="http://schemas.openxmlformats.org/officeDocument/2006/relationships/image" Target="../media/image4.jpe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18.jpe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Users\David Wu\Desktop\ring.jpg"/>
          <p:cNvPicPr>
            <a:picLocks noChangeAspect="1" noChangeArrowheads="1"/>
          </p:cNvPicPr>
          <p:nvPr/>
        </p:nvPicPr>
        <p:blipFill>
          <a:blip r:embed="rId2" cstate="print"/>
          <a:srcRect l="10846" r="11948" b="7257"/>
          <a:stretch>
            <a:fillRect/>
          </a:stretch>
        </p:blipFill>
        <p:spPr bwMode="auto">
          <a:xfrm>
            <a:off x="7010400" y="11506200"/>
            <a:ext cx="6629400" cy="6984546"/>
          </a:xfrm>
          <a:prstGeom prst="rect">
            <a:avLst/>
          </a:prstGeom>
          <a:noFill/>
        </p:spPr>
      </p:pic>
      <p:pic>
        <p:nvPicPr>
          <p:cNvPr id="2052" name="Picture 4" descr="http://www.bnl.gov/education/linkableFiles/logos/BNLsmall.jpg"/>
          <p:cNvPicPr>
            <a:picLocks noChangeAspect="1" noChangeArrowheads="1"/>
          </p:cNvPicPr>
          <p:nvPr/>
        </p:nvPicPr>
        <p:blipFill>
          <a:blip r:embed="rId3" cstate="print"/>
          <a:srcRect/>
          <a:stretch>
            <a:fillRect/>
          </a:stretch>
        </p:blipFill>
        <p:spPr bwMode="auto">
          <a:xfrm>
            <a:off x="10820400" y="4038600"/>
            <a:ext cx="5715000" cy="2238376"/>
          </a:xfrm>
          <a:prstGeom prst="rect">
            <a:avLst/>
          </a:prstGeom>
          <a:noFill/>
        </p:spPr>
      </p:pic>
      <p:sp>
        <p:nvSpPr>
          <p:cNvPr id="5" name="TextBox 4"/>
          <p:cNvSpPr txBox="1"/>
          <p:nvPr/>
        </p:nvSpPr>
        <p:spPr>
          <a:xfrm>
            <a:off x="762000" y="533400"/>
            <a:ext cx="25527000" cy="1938992"/>
          </a:xfrm>
          <a:prstGeom prst="rect">
            <a:avLst/>
          </a:prstGeom>
          <a:noFill/>
        </p:spPr>
        <p:txBody>
          <a:bodyPr wrap="square" rtlCol="0">
            <a:spAutoFit/>
          </a:bodyPr>
          <a:lstStyle/>
          <a:p>
            <a:pPr algn="ctr"/>
            <a:r>
              <a:rPr lang="en-US" sz="6000" b="1" dirty="0" smtClean="0">
                <a:solidFill>
                  <a:srgbClr val="C00000"/>
                </a:solidFill>
                <a:latin typeface="Times New Roman" pitchFamily="18" charset="0"/>
                <a:cs typeface="Times New Roman" pitchFamily="18" charset="0"/>
              </a:rPr>
              <a:t>A study of muon injection efficiency improvements involving the electrostatic focusing quadrupoles in the Muon g-2 Experiment</a:t>
            </a:r>
            <a:endParaRPr lang="en-US" sz="6000" b="1" dirty="0">
              <a:solidFill>
                <a:srgbClr val="C00000"/>
              </a:solidFill>
              <a:latin typeface="Times New Roman" pitchFamily="18" charset="0"/>
              <a:cs typeface="Times New Roman" pitchFamily="18" charset="0"/>
            </a:endParaRPr>
          </a:p>
        </p:txBody>
      </p:sp>
      <p:sp>
        <p:nvSpPr>
          <p:cNvPr id="6" name="TextBox 5"/>
          <p:cNvSpPr txBox="1"/>
          <p:nvPr/>
        </p:nvSpPr>
        <p:spPr>
          <a:xfrm>
            <a:off x="1066800" y="2685871"/>
            <a:ext cx="25146000" cy="1200329"/>
          </a:xfrm>
          <a:prstGeom prst="rect">
            <a:avLst/>
          </a:prstGeom>
          <a:noFill/>
        </p:spPr>
        <p:txBody>
          <a:bodyPr wrap="square" rtlCol="0">
            <a:spAutoFit/>
          </a:bodyPr>
          <a:lstStyle/>
          <a:p>
            <a:pPr algn="ctr"/>
            <a:r>
              <a:rPr lang="en-US" sz="3600" dirty="0" smtClean="0">
                <a:latin typeface="Constantia" pitchFamily="18" charset="0"/>
              </a:rPr>
              <a:t>David X. Wu, Dartmouth College, Hanover, NH 03755</a:t>
            </a:r>
          </a:p>
          <a:p>
            <a:pPr algn="ctr"/>
            <a:r>
              <a:rPr lang="en-US" sz="3600" dirty="0" smtClean="0">
                <a:latin typeface="Constantia" pitchFamily="18" charset="0"/>
              </a:rPr>
              <a:t>William M. Morse, Physics Department, Brookhaven National Laboratory, Upton, NY 11973</a:t>
            </a:r>
            <a:endParaRPr lang="en-US" sz="3600" dirty="0">
              <a:latin typeface="Constantia" pitchFamily="18" charset="0"/>
            </a:endParaRPr>
          </a:p>
        </p:txBody>
      </p:sp>
      <p:pic>
        <p:nvPicPr>
          <p:cNvPr id="1028" name="Picture 4"/>
          <p:cNvPicPr>
            <a:picLocks noChangeAspect="1" noChangeArrowheads="1"/>
          </p:cNvPicPr>
          <p:nvPr/>
        </p:nvPicPr>
        <p:blipFill>
          <a:blip r:embed="rId4" cstate="print"/>
          <a:srcRect/>
          <a:stretch>
            <a:fillRect/>
          </a:stretch>
        </p:blipFill>
        <p:spPr bwMode="auto">
          <a:xfrm>
            <a:off x="1125538" y="2209800"/>
            <a:ext cx="2608262" cy="1342047"/>
          </a:xfrm>
          <a:prstGeom prst="rect">
            <a:avLst/>
          </a:prstGeom>
          <a:noFill/>
          <a:ln w="9525">
            <a:noFill/>
            <a:miter lim="800000"/>
            <a:headEnd/>
            <a:tailEnd/>
          </a:ln>
        </p:spPr>
      </p:pic>
      <p:pic>
        <p:nvPicPr>
          <p:cNvPr id="2050" name="Picture 2" descr="https://encrypted-tbn1.gstatic.com/images?q=tbn:ANd9GcRpNT_rulVPW3E4y3mkVenSBYNQ5A_QJUsFlIAEAQ3AjhDm_Gx-"/>
          <p:cNvPicPr>
            <a:picLocks noChangeAspect="1" noChangeArrowheads="1"/>
          </p:cNvPicPr>
          <p:nvPr/>
        </p:nvPicPr>
        <p:blipFill>
          <a:blip r:embed="rId5" cstate="print"/>
          <a:srcRect/>
          <a:stretch>
            <a:fillRect/>
          </a:stretch>
        </p:blipFill>
        <p:spPr bwMode="auto">
          <a:xfrm>
            <a:off x="23774400" y="2124074"/>
            <a:ext cx="2066925" cy="2219326"/>
          </a:xfrm>
          <a:prstGeom prst="rect">
            <a:avLst/>
          </a:prstGeom>
          <a:noFill/>
        </p:spPr>
      </p:pic>
      <p:sp>
        <p:nvSpPr>
          <p:cNvPr id="84" name="TextBox 83"/>
          <p:cNvSpPr txBox="1"/>
          <p:nvPr/>
        </p:nvSpPr>
        <p:spPr>
          <a:xfrm>
            <a:off x="951128" y="5486400"/>
            <a:ext cx="2989601" cy="1015663"/>
          </a:xfrm>
          <a:prstGeom prst="rect">
            <a:avLst/>
          </a:prstGeom>
          <a:noFill/>
        </p:spPr>
        <p:txBody>
          <a:bodyPr wrap="none" rtlCol="0">
            <a:spAutoFit/>
          </a:bodyPr>
          <a:lstStyle/>
          <a:p>
            <a:pPr algn="just"/>
            <a:r>
              <a:rPr lang="en-US" sz="6000" dirty="0" smtClean="0">
                <a:solidFill>
                  <a:srgbClr val="C00000"/>
                </a:solidFill>
                <a:latin typeface="Constantia" pitchFamily="18" charset="0"/>
                <a:cs typeface="Times New Roman" pitchFamily="18" charset="0"/>
              </a:rPr>
              <a:t>Abstract</a:t>
            </a:r>
            <a:endParaRPr lang="en-US" sz="6000" dirty="0">
              <a:solidFill>
                <a:srgbClr val="C00000"/>
              </a:solidFill>
              <a:latin typeface="Constantia" pitchFamily="18" charset="0"/>
              <a:cs typeface="Times New Roman" pitchFamily="18" charset="0"/>
            </a:endParaRPr>
          </a:p>
        </p:txBody>
      </p:sp>
      <p:sp>
        <p:nvSpPr>
          <p:cNvPr id="86" name="TextBox 85"/>
          <p:cNvSpPr txBox="1"/>
          <p:nvPr/>
        </p:nvSpPr>
        <p:spPr>
          <a:xfrm>
            <a:off x="914400" y="6553200"/>
            <a:ext cx="12420600" cy="5755422"/>
          </a:xfrm>
          <a:prstGeom prst="rect">
            <a:avLst/>
          </a:prstGeom>
          <a:noFill/>
        </p:spPr>
        <p:txBody>
          <a:bodyPr wrap="square" rtlCol="0">
            <a:spAutoFit/>
          </a:bodyPr>
          <a:lstStyle/>
          <a:p>
            <a:pPr algn="just"/>
            <a:r>
              <a:rPr lang="en-US" sz="2300" dirty="0" smtClean="0">
                <a:latin typeface="Constantia" pitchFamily="18" charset="0"/>
                <a:cs typeface="Times New Roman" pitchFamily="18" charset="0"/>
              </a:rPr>
              <a:t>The measurement of the muon anomalous magnetic moment is a precise test of the validity of the Standard Model of particle physics. Previous measurement of the anomaly shows a significant discrepancy between theory and experiment, signaling possibility of new particles and subatomic forces. To verify and build upon those previous measurements, a new measurement of the muon anomalous magnetic moment at Fermilab has been approved to measure the anomaly to a greater precision, 0.14 parts per million, which requires a greater number of stored muons. In the Fermilab Muon g-2 Experiment, polarized muons kept in the ring by an ultra-uniform magnetic field and focused using four electrostatic quadrupoles. A significant source of muon losses in the past has been muon scattering and energy loss crossing the first quadrupole outer plate. The muons crossing the outer electrode plate scatter and lose energy, resulting in an estimated 40% reduction in the number of stored muons. A proposed improvement on the number of stored muons is to reposition the outer electrode horizontally. We calculate that moving the electrode horizontally from 50 mm to 70 mm will increase the number of stored muons by 600%. We also propose an improved electrode support design, which increases the number of stored muons by 400%. </a:t>
            </a:r>
          </a:p>
          <a:p>
            <a:pPr algn="just"/>
            <a:endParaRPr lang="en-US" sz="2300" dirty="0">
              <a:latin typeface="Constantia" pitchFamily="18" charset="0"/>
              <a:cs typeface="Times New Roman" pitchFamily="18" charset="0"/>
            </a:endParaRPr>
          </a:p>
        </p:txBody>
      </p:sp>
      <p:sp>
        <p:nvSpPr>
          <p:cNvPr id="98" name="TextBox 97"/>
          <p:cNvSpPr txBox="1"/>
          <p:nvPr/>
        </p:nvSpPr>
        <p:spPr>
          <a:xfrm>
            <a:off x="921852" y="18288000"/>
            <a:ext cx="8145948" cy="1015663"/>
          </a:xfrm>
          <a:prstGeom prst="rect">
            <a:avLst/>
          </a:prstGeom>
          <a:noFill/>
        </p:spPr>
        <p:txBody>
          <a:bodyPr wrap="none" rtlCol="0">
            <a:spAutoFit/>
          </a:bodyPr>
          <a:lstStyle/>
          <a:p>
            <a:pPr algn="just"/>
            <a:r>
              <a:rPr lang="en-US" sz="6000" dirty="0" smtClean="0">
                <a:solidFill>
                  <a:srgbClr val="C00000"/>
                </a:solidFill>
                <a:latin typeface="Constantia" pitchFamily="18" charset="0"/>
                <a:cs typeface="Times New Roman" pitchFamily="18" charset="0"/>
              </a:rPr>
              <a:t>Monte Carlo Simulation</a:t>
            </a:r>
            <a:endParaRPr lang="en-US" sz="6000" dirty="0">
              <a:solidFill>
                <a:srgbClr val="C00000"/>
              </a:solidFill>
              <a:latin typeface="Constantia" pitchFamily="18" charset="0"/>
              <a:cs typeface="Times New Roman" pitchFamily="18" charset="0"/>
            </a:endParaRPr>
          </a:p>
        </p:txBody>
      </p:sp>
      <p:sp>
        <p:nvSpPr>
          <p:cNvPr id="101" name="TextBox 100"/>
          <p:cNvSpPr txBox="1"/>
          <p:nvPr/>
        </p:nvSpPr>
        <p:spPr>
          <a:xfrm>
            <a:off x="914400" y="20138886"/>
            <a:ext cx="12344400" cy="2800767"/>
          </a:xfrm>
          <a:prstGeom prst="rect">
            <a:avLst/>
          </a:prstGeom>
          <a:noFill/>
        </p:spPr>
        <p:txBody>
          <a:bodyPr wrap="square" rtlCol="0">
            <a:spAutoFit/>
          </a:bodyPr>
          <a:lstStyle/>
          <a:p>
            <a:pPr algn="just"/>
            <a:r>
              <a:rPr lang="en-US" sz="2200" dirty="0" smtClean="0">
                <a:latin typeface="Constantia" pitchFamily="18" charset="0"/>
                <a:cs typeface="Times New Roman" pitchFamily="18" charset="0"/>
              </a:rPr>
              <a:t>We calculate the phase space of the muon beam from the end of the inflector until the kicker region, centered approximately 11 meters downstream of the inflector. The horizontal and vertical position of a muon as a function of distance downstream from the inflector are given below. We solve for Ax and Ay at the </a:t>
            </a:r>
            <a:r>
              <a:rPr lang="en-US" sz="2200" i="1" dirty="0" smtClean="0">
                <a:latin typeface="Constantia" pitchFamily="18" charset="0"/>
                <a:cs typeface="Times New Roman" pitchFamily="18" charset="0"/>
              </a:rPr>
              <a:t>s</a:t>
            </a:r>
            <a:r>
              <a:rPr lang="en-US" sz="2200" dirty="0" smtClean="0">
                <a:latin typeface="Constantia" pitchFamily="18" charset="0"/>
                <a:cs typeface="Times New Roman" pitchFamily="18" charset="0"/>
              </a:rPr>
              <a:t> at which the muon crosses into the quadrupole field. R is the radius of the storage ring, 7.112 m , n is the field index, 0.14, p is the muon momentum, p initial is the “magic momentum,” 3.094 </a:t>
            </a:r>
            <a:r>
              <a:rPr lang="en-US" sz="2200" dirty="0" err="1" smtClean="0">
                <a:latin typeface="Constantia" pitchFamily="18" charset="0"/>
                <a:cs typeface="Times New Roman" pitchFamily="18" charset="0"/>
              </a:rPr>
              <a:t>GeV</a:t>
            </a:r>
            <a:r>
              <a:rPr lang="en-US" sz="2200" dirty="0" smtClean="0">
                <a:latin typeface="Constantia" pitchFamily="18" charset="0"/>
                <a:cs typeface="Times New Roman" pitchFamily="18" charset="0"/>
              </a:rPr>
              <a:t>/c, s is the distance downstream of the inflector, v is the tune. A is the amplitude of the betatron oscillations, phi is the phase of the betatron oscillations. They are calculated at the </a:t>
            </a:r>
            <a:r>
              <a:rPr lang="en-US" sz="2200" dirty="0" smtClean="0">
                <a:latin typeface="Constantia" pitchFamily="18" charset="0"/>
                <a:cs typeface="Times New Roman" pitchFamily="18" charset="0"/>
              </a:rPr>
              <a:t>distance, s, </a:t>
            </a:r>
            <a:r>
              <a:rPr lang="en-US" sz="2200" dirty="0" smtClean="0">
                <a:latin typeface="Constantia" pitchFamily="18" charset="0"/>
                <a:cs typeface="Times New Roman" pitchFamily="18" charset="0"/>
              </a:rPr>
              <a:t>at which the beam crosses into storage.</a:t>
            </a:r>
          </a:p>
        </p:txBody>
      </p:sp>
      <p:sp>
        <p:nvSpPr>
          <p:cNvPr id="2078" name="Rectangle 30"/>
          <p:cNvSpPr>
            <a:spLocks noChangeArrowheads="1"/>
          </p:cNvSpPr>
          <p:nvPr/>
        </p:nvSpPr>
        <p:spPr bwMode="auto">
          <a:xfrm>
            <a:off x="13117118" y="2628498"/>
            <a:ext cx="1197764" cy="477054"/>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MS Reference Sans Serif" pitchFamily="34" charset="0"/>
                <a:ea typeface="Times New Roman" pitchFamily="18" charset="0"/>
                <a:cs typeface="Linux Libertine" pitchFamily="2" charset="0"/>
              </a:rPr>
              <a:t>	</a:t>
            </a:r>
            <a:r>
              <a:rPr kumimoji="0" lang="en-US" sz="2500" b="0" i="0" u="none" strike="noStrike" cap="none" normalizeH="0" baseline="0" smtClean="0">
                <a:ln>
                  <a:noFill/>
                </a:ln>
                <a:solidFill>
                  <a:schemeClr val="tx1"/>
                </a:solidFill>
                <a:effectLst/>
                <a:latin typeface="Arial" pitchFamily="34"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36" name="TextBox 135"/>
          <p:cNvSpPr txBox="1"/>
          <p:nvPr/>
        </p:nvSpPr>
        <p:spPr>
          <a:xfrm>
            <a:off x="2362200" y="30284677"/>
            <a:ext cx="184731" cy="1200329"/>
          </a:xfrm>
          <a:prstGeom prst="rect">
            <a:avLst/>
          </a:prstGeom>
          <a:noFill/>
        </p:spPr>
        <p:txBody>
          <a:bodyPr wrap="none" rtlCol="0">
            <a:spAutoFit/>
          </a:bodyPr>
          <a:lstStyle/>
          <a:p>
            <a:pPr algn="just"/>
            <a:endParaRPr lang="en-US" dirty="0">
              <a:latin typeface="Constantia" pitchFamily="18" charset="0"/>
              <a:cs typeface="Times New Roman" pitchFamily="18" charset="0"/>
            </a:endParaRPr>
          </a:p>
        </p:txBody>
      </p:sp>
      <p:sp>
        <p:nvSpPr>
          <p:cNvPr id="138" name="TextBox 137"/>
          <p:cNvSpPr txBox="1"/>
          <p:nvPr/>
        </p:nvSpPr>
        <p:spPr>
          <a:xfrm>
            <a:off x="914400" y="33756600"/>
            <a:ext cx="12320222" cy="2123658"/>
          </a:xfrm>
          <a:prstGeom prst="rect">
            <a:avLst/>
          </a:prstGeom>
          <a:noFill/>
        </p:spPr>
        <p:txBody>
          <a:bodyPr wrap="square" rtlCol="0">
            <a:spAutoFit/>
          </a:bodyPr>
          <a:lstStyle/>
          <a:p>
            <a:pPr algn="just"/>
            <a:r>
              <a:rPr lang="en-US" sz="2200" dirty="0" smtClean="0">
                <a:latin typeface="Constantia" pitchFamily="18" charset="0"/>
                <a:cs typeface="Times New Roman" pitchFamily="18" charset="0"/>
              </a:rPr>
              <a:t>The checks on the accuracy of the simulation are as follows. The injection efficiency after the cuts simulated is 8.9%, which is close to the 10.5% estimation given for an ideal kick going through no material. The phase space plots simulated show that the phase space agrees with the experimental 90 degree rotation after a quarter of a turn. In this simulation, we assume uniform magnetic field, a perfect kicker field, and smooth betatron oscillation approximations. Further GEANT4 simulations should verify these results.</a:t>
            </a:r>
          </a:p>
        </p:txBody>
      </p:sp>
      <p:sp>
        <p:nvSpPr>
          <p:cNvPr id="143" name="TextBox 142"/>
          <p:cNvSpPr txBox="1"/>
          <p:nvPr/>
        </p:nvSpPr>
        <p:spPr>
          <a:xfrm>
            <a:off x="914400" y="19278600"/>
            <a:ext cx="5564152" cy="707886"/>
          </a:xfrm>
          <a:prstGeom prst="rect">
            <a:avLst/>
          </a:prstGeom>
          <a:noFill/>
        </p:spPr>
        <p:txBody>
          <a:bodyPr wrap="none" rtlCol="0">
            <a:spAutoFit/>
          </a:bodyPr>
          <a:lstStyle/>
          <a:p>
            <a:pPr algn="just"/>
            <a:r>
              <a:rPr lang="en-US" sz="4000" dirty="0" smtClean="0">
                <a:latin typeface="Constantia" pitchFamily="18" charset="0"/>
                <a:cs typeface="Times New Roman" pitchFamily="18" charset="0"/>
              </a:rPr>
              <a:t>Muon beam phase space</a:t>
            </a:r>
            <a:endParaRPr lang="en-US" sz="4000" dirty="0">
              <a:latin typeface="Constantia" pitchFamily="18" charset="0"/>
              <a:cs typeface="Times New Roman" pitchFamily="18" charset="0"/>
            </a:endParaRPr>
          </a:p>
        </p:txBody>
      </p:sp>
      <p:sp>
        <p:nvSpPr>
          <p:cNvPr id="144" name="TextBox 143"/>
          <p:cNvSpPr txBox="1"/>
          <p:nvPr/>
        </p:nvSpPr>
        <p:spPr>
          <a:xfrm>
            <a:off x="914400" y="28455878"/>
            <a:ext cx="5835187" cy="707886"/>
          </a:xfrm>
          <a:prstGeom prst="rect">
            <a:avLst/>
          </a:prstGeom>
          <a:noFill/>
        </p:spPr>
        <p:txBody>
          <a:bodyPr wrap="none" rtlCol="0">
            <a:spAutoFit/>
          </a:bodyPr>
          <a:lstStyle/>
          <a:p>
            <a:pPr algn="just"/>
            <a:r>
              <a:rPr lang="en-US" sz="4000" dirty="0" smtClean="0">
                <a:latin typeface="Constantia" pitchFamily="18" charset="0"/>
                <a:cs typeface="Times New Roman" pitchFamily="18" charset="0"/>
              </a:rPr>
              <a:t>Muon injection efficiency</a:t>
            </a:r>
            <a:endParaRPr lang="en-US" sz="4000" dirty="0">
              <a:latin typeface="Constantia" pitchFamily="18" charset="0"/>
              <a:cs typeface="Times New Roman" pitchFamily="18" charset="0"/>
            </a:endParaRPr>
          </a:p>
        </p:txBody>
      </p:sp>
      <p:sp>
        <p:nvSpPr>
          <p:cNvPr id="145" name="TextBox 144"/>
          <p:cNvSpPr txBox="1"/>
          <p:nvPr/>
        </p:nvSpPr>
        <p:spPr>
          <a:xfrm>
            <a:off x="14249400" y="5845314"/>
            <a:ext cx="12115800" cy="707886"/>
          </a:xfrm>
          <a:prstGeom prst="rect">
            <a:avLst/>
          </a:prstGeom>
          <a:noFill/>
        </p:spPr>
        <p:txBody>
          <a:bodyPr wrap="square" rtlCol="0">
            <a:spAutoFit/>
          </a:bodyPr>
          <a:lstStyle/>
          <a:p>
            <a:pPr algn="just"/>
            <a:r>
              <a:rPr lang="en-US" sz="4000" dirty="0" smtClean="0">
                <a:latin typeface="Constantia" pitchFamily="18" charset="0"/>
                <a:cs typeface="Times New Roman" pitchFamily="18" charset="0"/>
              </a:rPr>
              <a:t>Vacuum chamber electric field and inflector tilt</a:t>
            </a:r>
            <a:endParaRPr lang="en-US" sz="4000" dirty="0">
              <a:latin typeface="Constantia" pitchFamily="18" charset="0"/>
              <a:cs typeface="Times New Roman" pitchFamily="18" charset="0"/>
            </a:endParaRPr>
          </a:p>
        </p:txBody>
      </p:sp>
      <p:sp>
        <p:nvSpPr>
          <p:cNvPr id="146" name="TextBox 145"/>
          <p:cNvSpPr txBox="1"/>
          <p:nvPr/>
        </p:nvSpPr>
        <p:spPr>
          <a:xfrm>
            <a:off x="914400" y="32963584"/>
            <a:ext cx="12496800" cy="707886"/>
          </a:xfrm>
          <a:prstGeom prst="rect">
            <a:avLst/>
          </a:prstGeom>
          <a:noFill/>
        </p:spPr>
        <p:txBody>
          <a:bodyPr wrap="square" rtlCol="0">
            <a:spAutoFit/>
          </a:bodyPr>
          <a:lstStyle/>
          <a:p>
            <a:pPr algn="just"/>
            <a:r>
              <a:rPr lang="en-US" sz="4000" dirty="0" smtClean="0">
                <a:latin typeface="Constantia" pitchFamily="18" charset="0"/>
                <a:cs typeface="Times New Roman" pitchFamily="18" charset="0"/>
              </a:rPr>
              <a:t>Simulation validity</a:t>
            </a:r>
            <a:endParaRPr lang="en-US" sz="4000" dirty="0">
              <a:latin typeface="Constantia" pitchFamily="18" charset="0"/>
              <a:cs typeface="Times New Roman" pitchFamily="18" charset="0"/>
            </a:endParaRPr>
          </a:p>
        </p:txBody>
      </p:sp>
      <p:sp>
        <p:nvSpPr>
          <p:cNvPr id="148" name="Rectangle 147"/>
          <p:cNvSpPr/>
          <p:nvPr/>
        </p:nvSpPr>
        <p:spPr>
          <a:xfrm>
            <a:off x="14249400" y="6629400"/>
            <a:ext cx="12344400" cy="3816429"/>
          </a:xfrm>
          <a:prstGeom prst="rect">
            <a:avLst/>
          </a:prstGeom>
        </p:spPr>
        <p:txBody>
          <a:bodyPr wrap="square">
            <a:spAutoFit/>
          </a:bodyPr>
          <a:lstStyle/>
          <a:p>
            <a:pPr algn="just"/>
            <a:r>
              <a:rPr lang="en-US" sz="2200" dirty="0" smtClean="0">
                <a:latin typeface="Constantia" pitchFamily="18" charset="0"/>
                <a:cs typeface="Times New Roman" pitchFamily="18" charset="0"/>
              </a:rPr>
              <a:t>Between the outer  electrode and the vacuum chamber there exists an electric field due to the potential difference between the negatively charged outer electrode and grounded vacuum chamber. We simplify this field to an electric dipole field, which decreases the radius of curvature of the muons to 7.102 meters in the region between the outer electrode and vacuum chamber. From the inflector exit to the start of  half, in the gap between quadrupole sections, and inside the quadrupole region, the radius of curvature is 7.112 meters. With </a:t>
            </a:r>
            <a:r>
              <a:rPr lang="en-US" sz="2200" i="1" dirty="0" smtClean="0">
                <a:latin typeface="Constantia" pitchFamily="18" charset="0"/>
                <a:cs typeface="Times New Roman" pitchFamily="18" charset="0"/>
              </a:rPr>
              <a:t>n </a:t>
            </a:r>
            <a:r>
              <a:rPr lang="en-US" sz="2200" dirty="0" smtClean="0">
                <a:latin typeface="Constantia" pitchFamily="18" charset="0"/>
                <a:cs typeface="Times New Roman" pitchFamily="18" charset="0"/>
              </a:rPr>
              <a:t>= 0.18, voltage is 31kV,  </a:t>
            </a:r>
            <a:r>
              <a:rPr lang="en-US" sz="2200" dirty="0" smtClean="0">
                <a:latin typeface="Constantia" pitchFamily="18" charset="0"/>
                <a:cs typeface="Times New Roman" pitchFamily="18" charset="0"/>
              </a:rPr>
              <a:t>radius =</a:t>
            </a:r>
            <a:r>
              <a:rPr lang="en-US" sz="2200" dirty="0" smtClean="0">
                <a:latin typeface="Constantia" pitchFamily="18" charset="0"/>
                <a:cs typeface="Times New Roman" pitchFamily="18" charset="0"/>
              </a:rPr>
              <a:t> </a:t>
            </a:r>
            <a:r>
              <a:rPr lang="en-US" sz="2200" dirty="0" smtClean="0">
                <a:latin typeface="Constantia" pitchFamily="18" charset="0"/>
                <a:cs typeface="Times New Roman" pitchFamily="18" charset="0"/>
              </a:rPr>
              <a:t>7.099m.</a:t>
            </a:r>
          </a:p>
          <a:p>
            <a:pPr algn="just"/>
            <a:endParaRPr lang="en-US" sz="2200" dirty="0" smtClean="0">
              <a:latin typeface="Constantia" pitchFamily="18" charset="0"/>
              <a:cs typeface="Times New Roman" pitchFamily="18" charset="0"/>
            </a:endParaRPr>
          </a:p>
          <a:p>
            <a:pPr algn="just"/>
            <a:r>
              <a:rPr lang="en-US" sz="2200" dirty="0" smtClean="0">
                <a:latin typeface="Constantia" pitchFamily="18" charset="0"/>
                <a:cs typeface="Times New Roman" pitchFamily="18" charset="0"/>
              </a:rPr>
              <a:t>We also studied the effect of tilting the inflector in </a:t>
            </a:r>
            <a:r>
              <a:rPr lang="en-US" sz="2200" i="1" dirty="0" smtClean="0">
                <a:latin typeface="Constantia" pitchFamily="18" charset="0"/>
                <a:cs typeface="Times New Roman" pitchFamily="18" charset="0"/>
              </a:rPr>
              <a:t>x'</a:t>
            </a:r>
            <a:r>
              <a:rPr lang="en-US" sz="2200" dirty="0" smtClean="0">
                <a:latin typeface="Constantia" pitchFamily="18" charset="0"/>
                <a:cs typeface="Times New Roman" pitchFamily="18" charset="0"/>
              </a:rPr>
              <a:t> on the number of storable muons. A negative tilt (-</a:t>
            </a:r>
            <a:r>
              <a:rPr lang="en-US" sz="2200" dirty="0" smtClean="0">
                <a:latin typeface="Constantia" pitchFamily="18" charset="0"/>
                <a:cs typeface="Times New Roman" pitchFamily="18" charset="0"/>
              </a:rPr>
              <a:t>1 </a:t>
            </a:r>
            <a:r>
              <a:rPr lang="en-US" sz="2200" dirty="0" err="1" smtClean="0">
                <a:latin typeface="Constantia" pitchFamily="18" charset="0"/>
                <a:cs typeface="Times New Roman" pitchFamily="18" charset="0"/>
              </a:rPr>
              <a:t>mrad</a:t>
            </a:r>
            <a:r>
              <a:rPr lang="en-US" sz="2200" dirty="0" smtClean="0">
                <a:latin typeface="Constantia" pitchFamily="18" charset="0"/>
                <a:cs typeface="Times New Roman" pitchFamily="18" charset="0"/>
              </a:rPr>
              <a:t>) resulted in 2% less muons hitting both the E821 kicker and E989 kicker, which slightly increased the number of muons storable. A positive tilt (+</a:t>
            </a:r>
            <a:r>
              <a:rPr lang="en-US" sz="2200" dirty="0" smtClean="0">
                <a:latin typeface="Constantia" pitchFamily="18" charset="0"/>
                <a:cs typeface="Times New Roman" pitchFamily="18" charset="0"/>
              </a:rPr>
              <a:t>1 </a:t>
            </a:r>
            <a:r>
              <a:rPr lang="en-US" sz="2200" dirty="0" err="1" smtClean="0">
                <a:latin typeface="Constantia" pitchFamily="18" charset="0"/>
                <a:cs typeface="Times New Roman" pitchFamily="18" charset="0"/>
              </a:rPr>
              <a:t>mrad</a:t>
            </a:r>
            <a:r>
              <a:rPr lang="en-US" sz="2200" dirty="0" smtClean="0">
                <a:latin typeface="Constantia" pitchFamily="18" charset="0"/>
                <a:cs typeface="Times New Roman" pitchFamily="18" charset="0"/>
              </a:rPr>
              <a:t>) resulted in 2% more muon hitting both types of kickers and slightly decreased the number of muons storable.</a:t>
            </a:r>
          </a:p>
        </p:txBody>
      </p:sp>
      <p:sp>
        <p:nvSpPr>
          <p:cNvPr id="147" name="Rectangle 146"/>
          <p:cNvSpPr/>
          <p:nvPr/>
        </p:nvSpPr>
        <p:spPr>
          <a:xfrm>
            <a:off x="914400" y="29260800"/>
            <a:ext cx="12344400" cy="3477875"/>
          </a:xfrm>
          <a:prstGeom prst="rect">
            <a:avLst/>
          </a:prstGeom>
        </p:spPr>
        <p:txBody>
          <a:bodyPr wrap="square">
            <a:spAutoFit/>
          </a:bodyPr>
          <a:lstStyle/>
          <a:p>
            <a:pPr algn="just"/>
            <a:r>
              <a:rPr lang="en-US" sz="2200" dirty="0" smtClean="0">
                <a:latin typeface="Constantia" pitchFamily="18" charset="0"/>
                <a:cs typeface="Times New Roman" pitchFamily="18" charset="0"/>
              </a:rPr>
              <a:t>We only consider muons that are storable, i.e., within the storage ring admittance assuming a perfect kick. We must examine the beam downstream of the first quadrupole to see which muons are worth considering, i.e., storable. We cut from consideration muons that do not fall within 0.25% of the magic momentum. Then we fit the distribution of muon momentum to the E821 stored muon momentum distribution. Next we cut the muons that hit the outer kicker plate positioned at x = 50mm. Since the kicker plate is thick, most of the muons that hit the plate will be lost. This cuts 26% of injected muons for the E821 kicker and 35% injected muons for the E989 kicker geometry. Finally, we cut muons that are not accepted into the storage ring circular aperture. After these cuts, 8.9% of injected muons are storable, assuming the E821 kicker geometry and </a:t>
            </a:r>
            <a:r>
              <a:rPr lang="en-US" sz="2200" i="1" dirty="0" smtClean="0">
                <a:latin typeface="Constantia" pitchFamily="18" charset="0"/>
                <a:cs typeface="Times New Roman" pitchFamily="18" charset="0"/>
              </a:rPr>
              <a:t>n</a:t>
            </a:r>
            <a:r>
              <a:rPr lang="en-US" sz="2200" dirty="0" smtClean="0">
                <a:latin typeface="Constantia" pitchFamily="18" charset="0"/>
                <a:cs typeface="Times New Roman" pitchFamily="18" charset="0"/>
              </a:rPr>
              <a:t> = 0.14 (8.3% for E989 kicker and </a:t>
            </a:r>
            <a:r>
              <a:rPr lang="en-US" sz="2200" i="1" dirty="0" smtClean="0">
                <a:latin typeface="Constantia" pitchFamily="18" charset="0"/>
                <a:cs typeface="Times New Roman" pitchFamily="18" charset="0"/>
              </a:rPr>
              <a:t>n</a:t>
            </a:r>
            <a:r>
              <a:rPr lang="en-US" sz="2200" dirty="0" smtClean="0">
                <a:latin typeface="Constantia" pitchFamily="18" charset="0"/>
                <a:cs typeface="Times New Roman" pitchFamily="18" charset="0"/>
              </a:rPr>
              <a:t> = 0.18), with a perfect kick. </a:t>
            </a:r>
          </a:p>
        </p:txBody>
      </p:sp>
      <p:sp>
        <p:nvSpPr>
          <p:cNvPr id="151" name="TextBox 150"/>
          <p:cNvSpPr txBox="1"/>
          <p:nvPr/>
        </p:nvSpPr>
        <p:spPr>
          <a:xfrm>
            <a:off x="14173200" y="16501408"/>
            <a:ext cx="12268200" cy="400110"/>
          </a:xfrm>
          <a:prstGeom prst="rect">
            <a:avLst/>
          </a:prstGeom>
          <a:noFill/>
        </p:spPr>
        <p:txBody>
          <a:bodyPr wrap="square" rtlCol="0">
            <a:spAutoFit/>
          </a:bodyPr>
          <a:lstStyle/>
          <a:p>
            <a:pPr algn="just"/>
            <a:endParaRPr lang="en-US" sz="2000" dirty="0">
              <a:latin typeface="Constantia" pitchFamily="18" charset="0"/>
              <a:cs typeface="Times New Roman" pitchFamily="18" charset="0"/>
            </a:endParaRPr>
          </a:p>
        </p:txBody>
      </p:sp>
      <p:sp>
        <p:nvSpPr>
          <p:cNvPr id="155" name="TextBox 154"/>
          <p:cNvSpPr txBox="1"/>
          <p:nvPr/>
        </p:nvSpPr>
        <p:spPr>
          <a:xfrm>
            <a:off x="14097000" y="15392400"/>
            <a:ext cx="2574679" cy="1015663"/>
          </a:xfrm>
          <a:prstGeom prst="rect">
            <a:avLst/>
          </a:prstGeom>
          <a:noFill/>
        </p:spPr>
        <p:txBody>
          <a:bodyPr wrap="none" rtlCol="0">
            <a:spAutoFit/>
          </a:bodyPr>
          <a:lstStyle/>
          <a:p>
            <a:pPr algn="just"/>
            <a:r>
              <a:rPr lang="en-US" sz="6000" dirty="0" smtClean="0">
                <a:solidFill>
                  <a:srgbClr val="C00000"/>
                </a:solidFill>
                <a:latin typeface="Constantia" pitchFamily="18" charset="0"/>
                <a:cs typeface="Times New Roman" pitchFamily="18" charset="0"/>
              </a:rPr>
              <a:t>Results</a:t>
            </a:r>
            <a:endParaRPr lang="en-US" sz="6000" dirty="0">
              <a:solidFill>
                <a:srgbClr val="C00000"/>
              </a:solidFill>
              <a:latin typeface="Constantia" pitchFamily="18" charset="0"/>
              <a:cs typeface="Times New Roman" pitchFamily="18" charset="0"/>
            </a:endParaRPr>
          </a:p>
        </p:txBody>
      </p:sp>
      <p:sp>
        <p:nvSpPr>
          <p:cNvPr id="158" name="TextBox 157"/>
          <p:cNvSpPr txBox="1"/>
          <p:nvPr/>
        </p:nvSpPr>
        <p:spPr>
          <a:xfrm>
            <a:off x="20955000" y="19354800"/>
            <a:ext cx="5410200" cy="6463308"/>
          </a:xfrm>
          <a:prstGeom prst="rect">
            <a:avLst/>
          </a:prstGeom>
          <a:noFill/>
        </p:spPr>
        <p:txBody>
          <a:bodyPr wrap="square" rtlCol="0">
            <a:spAutoFit/>
          </a:bodyPr>
          <a:lstStyle/>
          <a:p>
            <a:pPr algn="just"/>
            <a:r>
              <a:rPr lang="en-US" sz="2300" dirty="0" smtClean="0">
                <a:latin typeface="Constantia" pitchFamily="18" charset="0"/>
                <a:cs typeface="Times New Roman" pitchFamily="18" charset="0"/>
              </a:rPr>
              <a:t>Here we also study the number of muons that go through the  standoffs of varying design, thickness, and number. Three designs are considered: the E821 design, a thin horizontal standoff design, and a thin vertical standoff design. The percent storable muons hitting the E821 quadrupole support geometry is 31% for the full outer plate x = 50mm and 27% for x = 75mm. We propose a thin vertical standoff design to minimize muon energy loss and scattering. With three standoffs per half-quadrupole and a thickness of 4mm, only 8% of storable muons hit the standoffs for the proposed  outer electrode horizontal location. This is a 4-fold improvement for the new experiment.</a:t>
            </a:r>
            <a:endParaRPr lang="en-US" sz="2300" dirty="0">
              <a:latin typeface="Constantia" pitchFamily="18" charset="0"/>
              <a:cs typeface="Times New Roman" pitchFamily="18" charset="0"/>
            </a:endParaRPr>
          </a:p>
        </p:txBody>
      </p:sp>
      <p:sp>
        <p:nvSpPr>
          <p:cNvPr id="160" name="TextBox 159"/>
          <p:cNvSpPr txBox="1"/>
          <p:nvPr/>
        </p:nvSpPr>
        <p:spPr>
          <a:xfrm>
            <a:off x="14097000" y="33451800"/>
            <a:ext cx="6692153" cy="1015663"/>
          </a:xfrm>
          <a:prstGeom prst="rect">
            <a:avLst/>
          </a:prstGeom>
          <a:noFill/>
        </p:spPr>
        <p:txBody>
          <a:bodyPr wrap="none" rtlCol="0">
            <a:spAutoFit/>
          </a:bodyPr>
          <a:lstStyle/>
          <a:p>
            <a:pPr algn="just"/>
            <a:r>
              <a:rPr lang="en-US" sz="6000" dirty="0" smtClean="0">
                <a:solidFill>
                  <a:srgbClr val="C00000"/>
                </a:solidFill>
                <a:latin typeface="Constantia" pitchFamily="18" charset="0"/>
                <a:cs typeface="Times New Roman" pitchFamily="18" charset="0"/>
              </a:rPr>
              <a:t>Acknowledgements</a:t>
            </a:r>
            <a:endParaRPr lang="en-US" sz="6000" dirty="0">
              <a:solidFill>
                <a:srgbClr val="C00000"/>
              </a:solidFill>
              <a:latin typeface="Constantia" pitchFamily="18" charset="0"/>
              <a:cs typeface="Times New Roman" pitchFamily="18" charset="0"/>
            </a:endParaRPr>
          </a:p>
        </p:txBody>
      </p:sp>
      <p:sp>
        <p:nvSpPr>
          <p:cNvPr id="165" name="TextBox 164"/>
          <p:cNvSpPr txBox="1"/>
          <p:nvPr/>
        </p:nvSpPr>
        <p:spPr>
          <a:xfrm>
            <a:off x="14097000" y="34569737"/>
            <a:ext cx="12344400" cy="1015663"/>
          </a:xfrm>
          <a:prstGeom prst="rect">
            <a:avLst/>
          </a:prstGeom>
          <a:noFill/>
        </p:spPr>
        <p:txBody>
          <a:bodyPr wrap="square" rtlCol="0">
            <a:spAutoFit/>
          </a:bodyPr>
          <a:lstStyle/>
          <a:p>
            <a:pPr algn="just"/>
            <a:r>
              <a:rPr lang="en-US" sz="2000" dirty="0" smtClean="0">
                <a:latin typeface="Constantia" pitchFamily="18" charset="0"/>
                <a:cs typeface="Times New Roman" pitchFamily="18" charset="0"/>
              </a:rPr>
              <a:t>I would like to acknowledge and thank my mentor, Bill Morse for his generous support and guidance. I would also like to thank Vladimir </a:t>
            </a:r>
            <a:r>
              <a:rPr lang="en-US" sz="2000" dirty="0" err="1" smtClean="0">
                <a:latin typeface="Constantia" pitchFamily="18" charset="0"/>
                <a:cs typeface="Times New Roman" pitchFamily="18" charset="0"/>
              </a:rPr>
              <a:t>Tishchenko</a:t>
            </a:r>
            <a:r>
              <a:rPr lang="en-US" sz="2000" dirty="0" smtClean="0">
                <a:latin typeface="Constantia" pitchFamily="18" charset="0"/>
                <a:cs typeface="Times New Roman" pitchFamily="18" charset="0"/>
              </a:rPr>
              <a:t> and </a:t>
            </a:r>
            <a:r>
              <a:rPr lang="en-US" sz="2000" dirty="0" err="1" smtClean="0">
                <a:latin typeface="Constantia" pitchFamily="18" charset="0"/>
                <a:cs typeface="Times New Roman" pitchFamily="18" charset="0"/>
              </a:rPr>
              <a:t>Yannis</a:t>
            </a:r>
            <a:r>
              <a:rPr lang="en-US" sz="2000" dirty="0" smtClean="0">
                <a:latin typeface="Constantia" pitchFamily="18" charset="0"/>
                <a:cs typeface="Times New Roman" pitchFamily="18" charset="0"/>
              </a:rPr>
              <a:t> </a:t>
            </a:r>
            <a:r>
              <a:rPr lang="en-US" sz="2000" dirty="0" err="1" smtClean="0">
                <a:latin typeface="Constantia" pitchFamily="18" charset="0"/>
                <a:cs typeface="Times New Roman" pitchFamily="18" charset="0"/>
              </a:rPr>
              <a:t>Semertzidis</a:t>
            </a:r>
            <a:r>
              <a:rPr lang="en-US" sz="2000" dirty="0" smtClean="0">
                <a:latin typeface="Constantia" pitchFamily="18" charset="0"/>
                <a:cs typeface="Times New Roman" pitchFamily="18" charset="0"/>
              </a:rPr>
              <a:t> for their support and help. Finally,  I thank the Office of Education Programs and Brookhaven National Laboratory.</a:t>
            </a:r>
            <a:endParaRPr lang="en-US" sz="2000" dirty="0">
              <a:latin typeface="Constantia" pitchFamily="18" charset="0"/>
              <a:cs typeface="Times New Roman" pitchFamily="18" charset="0"/>
            </a:endParaRPr>
          </a:p>
        </p:txBody>
      </p:sp>
      <p:pic>
        <p:nvPicPr>
          <p:cNvPr id="2087" name="Picture 39" descr="C:\Users\David Wu\Desktop\cross.jpg"/>
          <p:cNvPicPr>
            <a:picLocks noChangeAspect="1" noChangeArrowheads="1"/>
          </p:cNvPicPr>
          <p:nvPr/>
        </p:nvPicPr>
        <p:blipFill>
          <a:blip r:embed="rId6" cstate="print"/>
          <a:srcRect/>
          <a:stretch>
            <a:fillRect/>
          </a:stretch>
        </p:blipFill>
        <p:spPr bwMode="auto">
          <a:xfrm>
            <a:off x="14097000" y="10439400"/>
            <a:ext cx="7298780" cy="4876800"/>
          </a:xfrm>
          <a:prstGeom prst="rect">
            <a:avLst/>
          </a:prstGeom>
          <a:noFill/>
        </p:spPr>
      </p:pic>
      <p:pic>
        <p:nvPicPr>
          <p:cNvPr id="172" name="Picture 171"/>
          <p:cNvPicPr/>
          <p:nvPr/>
        </p:nvPicPr>
        <p:blipFill>
          <a:blip r:embed="rId7" cstate="print"/>
          <a:srcRect/>
          <a:stretch>
            <a:fillRect/>
          </a:stretch>
        </p:blipFill>
        <p:spPr bwMode="auto">
          <a:xfrm>
            <a:off x="21717000" y="10668000"/>
            <a:ext cx="5257800" cy="3962400"/>
          </a:xfrm>
          <a:prstGeom prst="rect">
            <a:avLst/>
          </a:prstGeom>
          <a:noFill/>
          <a:ln w="9525">
            <a:noFill/>
            <a:miter lim="800000"/>
            <a:headEnd/>
            <a:tailEnd/>
          </a:ln>
        </p:spPr>
      </p:pic>
      <p:pic>
        <p:nvPicPr>
          <p:cNvPr id="2089" name="Picture 41" descr="C:\Users\David Wu\Documents\BNL\2013\gnuplot\binary\quad data\x(S) y inside 23 a.png"/>
          <p:cNvPicPr>
            <a:picLocks noChangeAspect="1" noChangeArrowheads="1"/>
          </p:cNvPicPr>
          <p:nvPr/>
        </p:nvPicPr>
        <p:blipFill>
          <a:blip r:embed="rId8" cstate="print"/>
          <a:srcRect t="2469" r="1235"/>
          <a:stretch>
            <a:fillRect/>
          </a:stretch>
        </p:blipFill>
        <p:spPr bwMode="auto">
          <a:xfrm>
            <a:off x="13857790" y="19431000"/>
            <a:ext cx="6944810" cy="6858000"/>
          </a:xfrm>
          <a:prstGeom prst="rect">
            <a:avLst/>
          </a:prstGeom>
          <a:noFill/>
        </p:spPr>
      </p:pic>
      <p:pic>
        <p:nvPicPr>
          <p:cNvPr id="2090" name="Picture 42" descr="C:\Users\David Wu\Documents\BNL\2013\gnuplot\binary\quad data\q1 full.png"/>
          <p:cNvPicPr>
            <a:picLocks noChangeAspect="1" noChangeArrowheads="1"/>
          </p:cNvPicPr>
          <p:nvPr/>
        </p:nvPicPr>
        <p:blipFill>
          <a:blip r:embed="rId9" cstate="print"/>
          <a:srcRect/>
          <a:stretch>
            <a:fillRect/>
          </a:stretch>
        </p:blipFill>
        <p:spPr bwMode="auto">
          <a:xfrm>
            <a:off x="14325600" y="26365200"/>
            <a:ext cx="7218947" cy="6858000"/>
          </a:xfrm>
          <a:prstGeom prst="rect">
            <a:avLst/>
          </a:prstGeom>
          <a:noFill/>
        </p:spPr>
      </p:pic>
      <p:pic>
        <p:nvPicPr>
          <p:cNvPr id="2091" name="Picture 43" descr="C:\Users\David Wu\Documents\BNL\2013\gnuplot\binary\quad data\standoff 75, 989.png"/>
          <p:cNvPicPr>
            <a:picLocks noChangeAspect="1" noChangeArrowheads="1"/>
          </p:cNvPicPr>
          <p:nvPr/>
        </p:nvPicPr>
        <p:blipFill>
          <a:blip r:embed="rId10" cstate="print"/>
          <a:srcRect t="5263"/>
          <a:stretch>
            <a:fillRect/>
          </a:stretch>
        </p:blipFill>
        <p:spPr bwMode="auto">
          <a:xfrm>
            <a:off x="22250400" y="25984200"/>
            <a:ext cx="4343400" cy="8229600"/>
          </a:xfrm>
          <a:prstGeom prst="rect">
            <a:avLst/>
          </a:prstGeom>
          <a:noFill/>
        </p:spPr>
      </p:pic>
      <p:sp>
        <p:nvSpPr>
          <p:cNvPr id="2" name="Rectangle 2"/>
          <p:cNvSpPr>
            <a:spLocks noChangeArrowheads="1"/>
          </p:cNvSpPr>
          <p:nvPr/>
        </p:nvSpPr>
        <p:spPr bwMode="auto">
          <a:xfrm>
            <a:off x="0" y="0"/>
            <a:ext cx="2743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3" name="Rectangle 5"/>
          <p:cNvSpPr>
            <a:spLocks noChangeArrowheads="1"/>
          </p:cNvSpPr>
          <p:nvPr/>
        </p:nvSpPr>
        <p:spPr bwMode="auto">
          <a:xfrm>
            <a:off x="0" y="0"/>
            <a:ext cx="2743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895350"/>
            <a:ext cx="2743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55" name="Rectangle 7"/>
          <p:cNvSpPr>
            <a:spLocks noChangeArrowheads="1"/>
          </p:cNvSpPr>
          <p:nvPr/>
        </p:nvSpPr>
        <p:spPr bwMode="auto">
          <a:xfrm>
            <a:off x="0" y="1304925"/>
            <a:ext cx="2743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58" name="Rectangle 10"/>
          <p:cNvSpPr>
            <a:spLocks noChangeArrowheads="1"/>
          </p:cNvSpPr>
          <p:nvPr/>
        </p:nvSpPr>
        <p:spPr bwMode="auto">
          <a:xfrm>
            <a:off x="0" y="0"/>
            <a:ext cx="2743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9" name="Rectangle 11"/>
          <p:cNvSpPr>
            <a:spLocks noChangeArrowheads="1"/>
          </p:cNvSpPr>
          <p:nvPr/>
        </p:nvSpPr>
        <p:spPr bwMode="auto">
          <a:xfrm>
            <a:off x="0" y="1076325"/>
            <a:ext cx="2743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2067" name="Picture 19"/>
          <p:cNvPicPr>
            <a:picLocks noChangeAspect="1" noChangeArrowheads="1"/>
          </p:cNvPicPr>
          <p:nvPr/>
        </p:nvPicPr>
        <p:blipFill>
          <a:blip r:embed="rId11" cstate="print">
            <a:clrChange>
              <a:clrFrom>
                <a:srgbClr val="FFFFFF"/>
              </a:clrFrom>
              <a:clrTo>
                <a:srgbClr val="FFFFFF">
                  <a:alpha val="0"/>
                </a:srgbClr>
              </a:clrTo>
            </a:clrChange>
          </a:blip>
          <a:srcRect/>
          <a:stretch>
            <a:fillRect/>
          </a:stretch>
        </p:blipFill>
        <p:spPr bwMode="auto">
          <a:xfrm>
            <a:off x="1390650" y="23164800"/>
            <a:ext cx="5295900" cy="742950"/>
          </a:xfrm>
          <a:prstGeom prst="rect">
            <a:avLst/>
          </a:prstGeom>
          <a:noFill/>
        </p:spPr>
      </p:pic>
      <p:pic>
        <p:nvPicPr>
          <p:cNvPr id="2066" name="Picture 18"/>
          <p:cNvPicPr>
            <a:picLocks noChangeAspect="1" noChangeArrowheads="1"/>
          </p:cNvPicPr>
          <p:nvPr/>
        </p:nvPicPr>
        <p:blipFill>
          <a:blip r:embed="rId12" cstate="print">
            <a:clrChange>
              <a:clrFrom>
                <a:srgbClr val="FFFFFF"/>
              </a:clrFrom>
              <a:clrTo>
                <a:srgbClr val="FFFFFF">
                  <a:alpha val="0"/>
                </a:srgbClr>
              </a:clrTo>
            </a:clrChange>
          </a:blip>
          <a:srcRect/>
          <a:stretch>
            <a:fillRect/>
          </a:stretch>
        </p:blipFill>
        <p:spPr bwMode="auto">
          <a:xfrm>
            <a:off x="7981950" y="23221950"/>
            <a:ext cx="3276600" cy="704850"/>
          </a:xfrm>
          <a:prstGeom prst="rect">
            <a:avLst/>
          </a:prstGeom>
          <a:noFill/>
        </p:spPr>
      </p:pic>
      <p:pic>
        <p:nvPicPr>
          <p:cNvPr id="2065" name="Picture 17"/>
          <p:cNvPicPr>
            <a:picLocks noChangeAspect="1" noChangeArrowheads="1"/>
          </p:cNvPicPr>
          <p:nvPr/>
        </p:nvPicPr>
        <p:blipFill>
          <a:blip r:embed="rId13" cstate="print">
            <a:clrChange>
              <a:clrFrom>
                <a:srgbClr val="FFFFFF"/>
              </a:clrFrom>
              <a:clrTo>
                <a:srgbClr val="FFFFFF">
                  <a:alpha val="0"/>
                </a:srgbClr>
              </a:clrTo>
            </a:clrChange>
          </a:blip>
          <a:srcRect/>
          <a:stretch>
            <a:fillRect/>
          </a:stretch>
        </p:blipFill>
        <p:spPr bwMode="auto">
          <a:xfrm>
            <a:off x="1362075" y="24307800"/>
            <a:ext cx="4791075" cy="752475"/>
          </a:xfrm>
          <a:prstGeom prst="rect">
            <a:avLst/>
          </a:prstGeom>
          <a:noFill/>
        </p:spPr>
      </p:pic>
      <p:pic>
        <p:nvPicPr>
          <p:cNvPr id="4" name="Picture 16"/>
          <p:cNvPicPr>
            <a:picLocks noChangeAspect="1" noChangeArrowheads="1"/>
          </p:cNvPicPr>
          <p:nvPr/>
        </p:nvPicPr>
        <p:blipFill>
          <a:blip r:embed="rId14" cstate="print">
            <a:clrChange>
              <a:clrFrom>
                <a:srgbClr val="FFFFFF"/>
              </a:clrFrom>
              <a:clrTo>
                <a:srgbClr val="FFFFFF">
                  <a:alpha val="0"/>
                </a:srgbClr>
              </a:clrTo>
            </a:clrChange>
          </a:blip>
          <a:srcRect/>
          <a:stretch>
            <a:fillRect/>
          </a:stretch>
        </p:blipFill>
        <p:spPr bwMode="auto">
          <a:xfrm>
            <a:off x="7981950" y="24231600"/>
            <a:ext cx="4895850" cy="762000"/>
          </a:xfrm>
          <a:prstGeom prst="rect">
            <a:avLst/>
          </a:prstGeom>
          <a:noFill/>
        </p:spPr>
      </p:pic>
      <p:pic>
        <p:nvPicPr>
          <p:cNvPr id="2063" name="Picture 15"/>
          <p:cNvPicPr>
            <a:picLocks noChangeAspect="1" noChangeArrowheads="1"/>
          </p:cNvPicPr>
          <p:nvPr/>
        </p:nvPicPr>
        <p:blipFill>
          <a:blip r:embed="rId15" cstate="print">
            <a:clrChange>
              <a:clrFrom>
                <a:srgbClr val="FFFFFF"/>
              </a:clrFrom>
              <a:clrTo>
                <a:srgbClr val="FFFFFF">
                  <a:alpha val="0"/>
                </a:srgbClr>
              </a:clrTo>
            </a:clrChange>
          </a:blip>
          <a:srcRect/>
          <a:stretch>
            <a:fillRect/>
          </a:stretch>
        </p:blipFill>
        <p:spPr bwMode="auto">
          <a:xfrm>
            <a:off x="1352550" y="25298400"/>
            <a:ext cx="5715000" cy="1362075"/>
          </a:xfrm>
          <a:prstGeom prst="rect">
            <a:avLst/>
          </a:prstGeom>
          <a:noFill/>
        </p:spPr>
      </p:pic>
      <p:pic>
        <p:nvPicPr>
          <p:cNvPr id="2061" name="Picture 13"/>
          <p:cNvPicPr>
            <a:picLocks noChangeAspect="1" noChangeArrowheads="1"/>
          </p:cNvPicPr>
          <p:nvPr/>
        </p:nvPicPr>
        <p:blipFill>
          <a:blip r:embed="rId16" cstate="print">
            <a:clrChange>
              <a:clrFrom>
                <a:srgbClr val="FFFFFF"/>
              </a:clrFrom>
              <a:clrTo>
                <a:srgbClr val="FFFFFF">
                  <a:alpha val="0"/>
                </a:srgbClr>
              </a:clrTo>
            </a:clrChange>
          </a:blip>
          <a:srcRect/>
          <a:stretch>
            <a:fillRect/>
          </a:stretch>
        </p:blipFill>
        <p:spPr bwMode="auto">
          <a:xfrm>
            <a:off x="8001000" y="25603200"/>
            <a:ext cx="4019550" cy="838200"/>
          </a:xfrm>
          <a:prstGeom prst="rect">
            <a:avLst/>
          </a:prstGeom>
          <a:noFill/>
        </p:spPr>
      </p:pic>
      <p:pic>
        <p:nvPicPr>
          <p:cNvPr id="2060" name="Picture 12"/>
          <p:cNvPicPr>
            <a:picLocks noChangeAspect="1" noChangeArrowheads="1"/>
          </p:cNvPicPr>
          <p:nvPr/>
        </p:nvPicPr>
        <p:blipFill>
          <a:blip r:embed="rId17" cstate="print">
            <a:clrChange>
              <a:clrFrom>
                <a:srgbClr val="FFFFFF"/>
              </a:clrFrom>
              <a:clrTo>
                <a:srgbClr val="FFFFFF">
                  <a:alpha val="0"/>
                </a:srgbClr>
              </a:clrTo>
            </a:clrChange>
          </a:blip>
          <a:srcRect/>
          <a:stretch>
            <a:fillRect/>
          </a:stretch>
        </p:blipFill>
        <p:spPr bwMode="auto">
          <a:xfrm>
            <a:off x="7981950" y="27270075"/>
            <a:ext cx="3505200" cy="695325"/>
          </a:xfrm>
          <a:prstGeom prst="rect">
            <a:avLst/>
          </a:prstGeom>
          <a:noFill/>
        </p:spPr>
      </p:pic>
      <p:sp>
        <p:nvSpPr>
          <p:cNvPr id="2068" name="Rectangle 20"/>
          <p:cNvSpPr>
            <a:spLocks noChangeArrowheads="1"/>
          </p:cNvSpPr>
          <p:nvPr/>
        </p:nvSpPr>
        <p:spPr bwMode="auto">
          <a:xfrm>
            <a:off x="0" y="0"/>
            <a:ext cx="2743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69" name="Rectangle 21"/>
          <p:cNvSpPr>
            <a:spLocks noChangeArrowheads="1"/>
          </p:cNvSpPr>
          <p:nvPr/>
        </p:nvSpPr>
        <p:spPr bwMode="auto">
          <a:xfrm>
            <a:off x="0" y="1200150"/>
            <a:ext cx="2743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75" name="Rectangle 27"/>
          <p:cNvSpPr>
            <a:spLocks noChangeArrowheads="1"/>
          </p:cNvSpPr>
          <p:nvPr/>
        </p:nvSpPr>
        <p:spPr bwMode="auto">
          <a:xfrm>
            <a:off x="0" y="9667875"/>
            <a:ext cx="2743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76" name="Rectangle 28"/>
          <p:cNvSpPr>
            <a:spLocks noChangeArrowheads="1"/>
          </p:cNvSpPr>
          <p:nvPr/>
        </p:nvSpPr>
        <p:spPr bwMode="auto">
          <a:xfrm>
            <a:off x="0" y="10820400"/>
            <a:ext cx="2743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2077" name="Picture 29"/>
          <p:cNvPicPr>
            <a:picLocks noChangeAspect="1" noChangeArrowheads="1"/>
          </p:cNvPicPr>
          <p:nvPr/>
        </p:nvPicPr>
        <p:blipFill>
          <a:blip r:embed="rId18" cstate="print">
            <a:clrChange>
              <a:clrFrom>
                <a:srgbClr val="FFFFFF"/>
              </a:clrFrom>
              <a:clrTo>
                <a:srgbClr val="FFFFFF">
                  <a:alpha val="0"/>
                </a:srgbClr>
              </a:clrTo>
            </a:clrChange>
          </a:blip>
          <a:srcRect/>
          <a:stretch>
            <a:fillRect/>
          </a:stretch>
        </p:blipFill>
        <p:spPr bwMode="auto">
          <a:xfrm>
            <a:off x="1352550" y="27203400"/>
            <a:ext cx="5324475" cy="752475"/>
          </a:xfrm>
          <a:prstGeom prst="rect">
            <a:avLst/>
          </a:prstGeom>
          <a:noFill/>
        </p:spPr>
      </p:pic>
      <p:sp>
        <p:nvSpPr>
          <p:cNvPr id="76" name="TextBox 75"/>
          <p:cNvSpPr txBox="1"/>
          <p:nvPr/>
        </p:nvSpPr>
        <p:spPr>
          <a:xfrm>
            <a:off x="14554200" y="17678400"/>
            <a:ext cx="184731" cy="1200329"/>
          </a:xfrm>
          <a:prstGeom prst="rect">
            <a:avLst/>
          </a:prstGeom>
          <a:noFill/>
        </p:spPr>
        <p:txBody>
          <a:bodyPr wrap="none" rtlCol="0">
            <a:spAutoFit/>
          </a:bodyPr>
          <a:lstStyle/>
          <a:p>
            <a:endParaRPr lang="en-US" dirty="0"/>
          </a:p>
        </p:txBody>
      </p:sp>
      <p:sp>
        <p:nvSpPr>
          <p:cNvPr id="77" name="TextBox 76"/>
          <p:cNvSpPr txBox="1"/>
          <p:nvPr/>
        </p:nvSpPr>
        <p:spPr>
          <a:xfrm>
            <a:off x="14097000" y="16535400"/>
            <a:ext cx="12268200" cy="2923877"/>
          </a:xfrm>
          <a:prstGeom prst="rect">
            <a:avLst/>
          </a:prstGeom>
          <a:noFill/>
        </p:spPr>
        <p:txBody>
          <a:bodyPr wrap="square" rtlCol="0">
            <a:spAutoFit/>
          </a:bodyPr>
          <a:lstStyle/>
          <a:p>
            <a:pPr algn="just"/>
            <a:r>
              <a:rPr lang="en-US" sz="2300" dirty="0" smtClean="0">
                <a:latin typeface="Constantia" pitchFamily="18" charset="0"/>
                <a:cs typeface="Times New Roman" pitchFamily="18" charset="0"/>
              </a:rPr>
              <a:t>If the </a:t>
            </a:r>
            <a:r>
              <a:rPr lang="en-US" sz="2300" dirty="0" smtClean="0">
                <a:latin typeface="Constantia" pitchFamily="18" charset="0"/>
                <a:cs typeface="Times New Roman" pitchFamily="18" charset="0"/>
              </a:rPr>
              <a:t>outer </a:t>
            </a:r>
            <a:r>
              <a:rPr lang="en-US" sz="2300" dirty="0" smtClean="0">
                <a:latin typeface="Constantia" pitchFamily="18" charset="0"/>
                <a:cs typeface="Times New Roman" pitchFamily="18" charset="0"/>
              </a:rPr>
              <a:t>electrode is left at x = 50mm, then we see that all </a:t>
            </a:r>
            <a:r>
              <a:rPr lang="en-US" sz="2300" dirty="0" smtClean="0">
                <a:latin typeface="Constantia" pitchFamily="18" charset="0"/>
                <a:cs typeface="Times New Roman" pitchFamily="18" charset="0"/>
              </a:rPr>
              <a:t>muons </a:t>
            </a:r>
            <a:r>
              <a:rPr lang="en-US" sz="2300" dirty="0" smtClean="0">
                <a:latin typeface="Constantia" pitchFamily="18" charset="0"/>
                <a:cs typeface="Times New Roman" pitchFamily="18" charset="0"/>
              </a:rPr>
              <a:t>will hit the plate and the particles will scatter and lose energy. We see that few muons cross x = 50mm before 3.9m so we propose only </a:t>
            </a:r>
            <a:r>
              <a:rPr lang="en-US" sz="2300" dirty="0" smtClean="0">
                <a:latin typeface="Constantia" pitchFamily="18" charset="0"/>
                <a:cs typeface="Times New Roman" pitchFamily="18" charset="0"/>
              </a:rPr>
              <a:t>moving the full electrode </a:t>
            </a:r>
            <a:r>
              <a:rPr lang="en-US" sz="2300" dirty="0" smtClean="0">
                <a:latin typeface="Constantia" pitchFamily="18" charset="0"/>
                <a:cs typeface="Times New Roman" pitchFamily="18" charset="0"/>
              </a:rPr>
              <a:t>(as opposed to moving both </a:t>
            </a:r>
            <a:r>
              <a:rPr lang="en-US" sz="2300" dirty="0" smtClean="0">
                <a:latin typeface="Constantia" pitchFamily="18" charset="0"/>
                <a:cs typeface="Times New Roman" pitchFamily="18" charset="0"/>
              </a:rPr>
              <a:t>full </a:t>
            </a:r>
            <a:r>
              <a:rPr lang="en-US" sz="2300" dirty="0" smtClean="0">
                <a:latin typeface="Constantia" pitchFamily="18" charset="0"/>
                <a:cs typeface="Times New Roman" pitchFamily="18" charset="0"/>
              </a:rPr>
              <a:t>and </a:t>
            </a:r>
            <a:r>
              <a:rPr lang="en-US" sz="2300" dirty="0" smtClean="0">
                <a:latin typeface="Constantia" pitchFamily="18" charset="0"/>
                <a:cs typeface="Times New Roman" pitchFamily="18" charset="0"/>
              </a:rPr>
              <a:t>half</a:t>
            </a:r>
            <a:r>
              <a:rPr lang="en-US" sz="2300" dirty="0" smtClean="0">
                <a:latin typeface="Constantia" pitchFamily="18" charset="0"/>
                <a:cs typeface="Times New Roman" pitchFamily="18" charset="0"/>
              </a:rPr>
              <a:t>) out radially. We calculate that the maximum horizontal position of muons hitting  full is 72mm. If we move the </a:t>
            </a:r>
            <a:r>
              <a:rPr lang="en-US" sz="2300" dirty="0" smtClean="0">
                <a:latin typeface="Constantia" pitchFamily="18" charset="0"/>
                <a:cs typeface="Times New Roman" pitchFamily="18" charset="0"/>
              </a:rPr>
              <a:t>full </a:t>
            </a:r>
            <a:r>
              <a:rPr lang="en-US" sz="2300" dirty="0" smtClean="0">
                <a:latin typeface="Constantia" pitchFamily="18" charset="0"/>
                <a:cs typeface="Times New Roman" pitchFamily="18" charset="0"/>
              </a:rPr>
              <a:t>outer electrode to x &gt; 72mm, only muons that go through the </a:t>
            </a:r>
            <a:r>
              <a:rPr lang="en-US" sz="2300" dirty="0" smtClean="0">
                <a:latin typeface="Constantia" pitchFamily="18" charset="0"/>
                <a:cs typeface="Times New Roman" pitchFamily="18" charset="0"/>
              </a:rPr>
              <a:t>half </a:t>
            </a:r>
            <a:r>
              <a:rPr lang="en-US" sz="2300" dirty="0" smtClean="0">
                <a:latin typeface="Constantia" pitchFamily="18" charset="0"/>
                <a:cs typeface="Times New Roman" pitchFamily="18" charset="0"/>
              </a:rPr>
              <a:t>outer electrode will scatter or lose energy. With the </a:t>
            </a:r>
            <a:r>
              <a:rPr lang="en-US" sz="2300" dirty="0" smtClean="0">
                <a:latin typeface="Constantia" pitchFamily="18" charset="0"/>
                <a:cs typeface="Times New Roman" pitchFamily="18" charset="0"/>
              </a:rPr>
              <a:t>full </a:t>
            </a:r>
            <a:r>
              <a:rPr lang="en-US" sz="2300" dirty="0" smtClean="0">
                <a:latin typeface="Constantia" pitchFamily="18" charset="0"/>
                <a:cs typeface="Times New Roman" pitchFamily="18" charset="0"/>
              </a:rPr>
              <a:t>outer electrode at x = 70mm and the </a:t>
            </a:r>
            <a:r>
              <a:rPr lang="en-US" sz="2300" dirty="0" smtClean="0">
                <a:latin typeface="Constantia" pitchFamily="18" charset="0"/>
                <a:cs typeface="Times New Roman" pitchFamily="18" charset="0"/>
              </a:rPr>
              <a:t>ha</a:t>
            </a:r>
            <a:r>
              <a:rPr lang="en-US" sz="2300" dirty="0" smtClean="0">
                <a:latin typeface="Constantia" pitchFamily="18" charset="0"/>
                <a:cs typeface="Times New Roman" pitchFamily="18" charset="0"/>
              </a:rPr>
              <a:t>lf </a:t>
            </a:r>
            <a:r>
              <a:rPr lang="en-US" sz="2300" dirty="0" smtClean="0">
                <a:latin typeface="Constantia" pitchFamily="18" charset="0"/>
                <a:cs typeface="Times New Roman" pitchFamily="18" charset="0"/>
              </a:rPr>
              <a:t>outer electrode at x = 50mm, we calculate that 13% of storable muons will hit the </a:t>
            </a:r>
            <a:r>
              <a:rPr lang="en-US" sz="2300" dirty="0" smtClean="0">
                <a:latin typeface="Constantia" pitchFamily="18" charset="0"/>
                <a:cs typeface="Times New Roman" pitchFamily="18" charset="0"/>
              </a:rPr>
              <a:t>outer </a:t>
            </a:r>
            <a:r>
              <a:rPr lang="en-US" sz="2300" dirty="0" smtClean="0">
                <a:latin typeface="Constantia" pitchFamily="18" charset="0"/>
                <a:cs typeface="Times New Roman" pitchFamily="18" charset="0"/>
              </a:rPr>
              <a:t>electrode (half + full). This is a 6-fold improvement from the calculated 78% that hit the </a:t>
            </a:r>
            <a:r>
              <a:rPr lang="en-US" sz="2300" dirty="0" smtClean="0">
                <a:latin typeface="Constantia" pitchFamily="18" charset="0"/>
                <a:cs typeface="Times New Roman" pitchFamily="18" charset="0"/>
              </a:rPr>
              <a:t>outer </a:t>
            </a:r>
            <a:r>
              <a:rPr lang="en-US" sz="2300" dirty="0" smtClean="0">
                <a:latin typeface="Constantia" pitchFamily="18" charset="0"/>
                <a:cs typeface="Times New Roman" pitchFamily="18" charset="0"/>
              </a:rPr>
              <a:t>electrode in E821. </a:t>
            </a:r>
          </a:p>
        </p:txBody>
      </p:sp>
      <p:cxnSp>
        <p:nvCxnSpPr>
          <p:cNvPr id="79" name="Straight Connector 78"/>
          <p:cNvCxnSpPr/>
          <p:nvPr/>
        </p:nvCxnSpPr>
        <p:spPr>
          <a:xfrm>
            <a:off x="17068800" y="20574000"/>
            <a:ext cx="1752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flipV="1">
            <a:off x="17983200" y="20726400"/>
            <a:ext cx="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026" name="Picture 2" descr="C:\Users\David Wu\Desktop\quad.jpg"/>
          <p:cNvPicPr>
            <a:picLocks noChangeAspect="1" noChangeArrowheads="1"/>
          </p:cNvPicPr>
          <p:nvPr/>
        </p:nvPicPr>
        <p:blipFill>
          <a:blip r:embed="rId19" cstate="print"/>
          <a:srcRect l="10447" r="6619" b="7301"/>
          <a:stretch>
            <a:fillRect/>
          </a:stretch>
        </p:blipFill>
        <p:spPr bwMode="auto">
          <a:xfrm>
            <a:off x="1143000" y="12085858"/>
            <a:ext cx="6324600" cy="6125942"/>
          </a:xfrm>
          <a:prstGeom prst="rect">
            <a:avLst/>
          </a:prstGeom>
          <a:noFill/>
        </p:spPr>
      </p:pic>
      <p:sp>
        <p:nvSpPr>
          <p:cNvPr id="56" name="TextBox 55"/>
          <p:cNvSpPr txBox="1"/>
          <p:nvPr/>
        </p:nvSpPr>
        <p:spPr>
          <a:xfrm>
            <a:off x="22555200" y="14782800"/>
            <a:ext cx="3182281" cy="400110"/>
          </a:xfrm>
          <a:prstGeom prst="rect">
            <a:avLst/>
          </a:prstGeom>
          <a:noFill/>
        </p:spPr>
        <p:txBody>
          <a:bodyPr wrap="none" rtlCol="0">
            <a:spAutoFit/>
          </a:bodyPr>
          <a:lstStyle/>
          <a:p>
            <a:r>
              <a:rPr lang="en-US" sz="2000" dirty="0" smtClean="0"/>
              <a:t>Quadrupole Support Designs</a:t>
            </a:r>
            <a:endParaRPr lang="en-US" sz="2000" dirty="0"/>
          </a:p>
        </p:txBody>
      </p:sp>
      <p:sp>
        <p:nvSpPr>
          <p:cNvPr id="57" name="Rectangle 56"/>
          <p:cNvSpPr/>
          <p:nvPr/>
        </p:nvSpPr>
        <p:spPr>
          <a:xfrm>
            <a:off x="22707600" y="25831800"/>
            <a:ext cx="228600" cy="3048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n>
                <a:solidFill>
                  <a:schemeClr val="bg1"/>
                </a:solidFill>
              </a:ln>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1676</TotalTime>
  <Words>1246</Words>
  <Application>Microsoft Office PowerPoint</Application>
  <PresentationFormat>Custom</PresentationFormat>
  <Paragraphs>23</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Slide 1</vt:lpstr>
    </vt:vector>
  </TitlesOfParts>
  <Company>Grizli777</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David Wu</dc:creator>
  <cp:lastModifiedBy>David Wu</cp:lastModifiedBy>
  <cp:revision>144</cp:revision>
  <dcterms:created xsi:type="dcterms:W3CDTF">2011-08-14T20:15:28Z</dcterms:created>
  <dcterms:modified xsi:type="dcterms:W3CDTF">2013-07-30T20:01:41Z</dcterms:modified>
</cp:coreProperties>
</file>